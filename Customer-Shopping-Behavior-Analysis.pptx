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Calibri" panose="020F0502020204030204" pitchFamily="34" charset="0"/>
      <p:regular r:id="rId13"/>
      <p:bold r:id="rId14"/>
      <p:italic r:id="rId15"/>
      <p:boldItalic r:id="rId16"/>
    </p:embeddedFont>
    <p:embeddedFont>
      <p:font typeface="Crimson Pro Bold" pitchFamily="2" charset="0"/>
      <p:bold r:id="rId17"/>
    </p:embeddedFont>
    <p:embeddedFont>
      <p:font typeface="Crimson Pro Light" pitchFamily="2" charset="0"/>
      <p:regular r:id="rId18"/>
      <p:italic r:id="rId19"/>
    </p:embeddedFont>
    <p:embeddedFont>
      <p:font typeface="Open Sans" panose="020B0604020202020204" charset="0"/>
      <p:regular r:id="rId20"/>
    </p:embeddedFont>
    <p:embeddedFont>
      <p:font typeface="Stylus BT" panose="020E0402020206020304" pitchFamily="3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1" d="100"/>
          <a:sy n="71" d="100"/>
        </p:scale>
        <p:origin x="56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12892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0.png"/><Relationship Id="rId7" Type="http://schemas.openxmlformats.org/officeDocument/2006/relationships/image" Target="../media/image21.sv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18.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691527"/>
            <a:ext cx="7556421" cy="1417558"/>
          </a:xfrm>
          <a:prstGeom prst="rect">
            <a:avLst/>
          </a:prstGeom>
          <a:noFill/>
          <a:ln/>
        </p:spPr>
        <p:txBody>
          <a:bodyPr wrap="square" lIns="0" tIns="0" rIns="0" bIns="0" rtlCol="0" anchor="t"/>
          <a:lstStyle/>
          <a:p>
            <a:pPr marL="0" indent="0" algn="l">
              <a:lnSpc>
                <a:spcPts val="5550"/>
              </a:lnSpc>
              <a:buNone/>
            </a:pPr>
            <a:r>
              <a:rPr lang="en-US" sz="4450" b="1" dirty="0">
                <a:solidFill>
                  <a:srgbClr val="443728"/>
                </a:solidFill>
                <a:latin typeface="Stylus BT" panose="020E0402020206020304" pitchFamily="34" charset="0"/>
                <a:ea typeface="Crimson Pro Bold"/>
                <a:cs typeface="Crimson Pro Bold" pitchFamily="34" charset="-120"/>
              </a:rPr>
              <a:t>Customer Shopping Behavior Analysis</a:t>
            </a:r>
            <a:endParaRPr lang="en-US" sz="4450" dirty="0">
              <a:latin typeface="Stylus BT" panose="020E0402020206020304" pitchFamily="34" charset="0"/>
              <a:ea typeface="Crimson Pro Bold"/>
            </a:endParaRPr>
          </a:p>
        </p:txBody>
      </p:sp>
      <p:sp>
        <p:nvSpPr>
          <p:cNvPr id="4" name="Text 1"/>
          <p:cNvSpPr/>
          <p:nvPr/>
        </p:nvSpPr>
        <p:spPr>
          <a:xfrm>
            <a:off x="793790" y="4449247"/>
            <a:ext cx="7556421" cy="1088708"/>
          </a:xfrm>
          <a:prstGeom prst="rect">
            <a:avLst/>
          </a:prstGeom>
          <a:noFill/>
          <a:ln/>
        </p:spPr>
        <p:txBody>
          <a:bodyPr wrap="square" lIns="0" tIns="0" rIns="0" bIns="0" rtlCol="0" anchor="t"/>
          <a:lstStyle/>
          <a:p>
            <a:pPr marL="0" indent="0" algn="l">
              <a:lnSpc>
                <a:spcPts val="2850"/>
              </a:lnSpc>
              <a:buNone/>
            </a:pPr>
            <a:r>
              <a:rPr lang="en-US" sz="1750" dirty="0">
                <a:solidFill>
                  <a:srgbClr val="443728"/>
                </a:solidFill>
                <a:latin typeface="Open Sans" pitchFamily="34" charset="0"/>
                <a:ea typeface="Open Sans" pitchFamily="34" charset="-122"/>
                <a:cs typeface="Open Sans" pitchFamily="34" charset="-120"/>
              </a:rPr>
              <a:t>Analyzing 3,900 purchases to uncover insights into spending patterns, customer segments, and product preferences that drive strategic business decisions.</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70771" y="695920"/>
            <a:ext cx="4888706" cy="611029"/>
          </a:xfrm>
          <a:prstGeom prst="rect">
            <a:avLst/>
          </a:prstGeom>
          <a:noFill/>
          <a:ln/>
        </p:spPr>
        <p:txBody>
          <a:bodyPr wrap="none" lIns="0" tIns="0" rIns="0" bIns="0" rtlCol="0" anchor="t"/>
          <a:lstStyle/>
          <a:p>
            <a:pPr marL="0" indent="0" algn="l">
              <a:lnSpc>
                <a:spcPts val="4800"/>
              </a:lnSpc>
              <a:buNone/>
            </a:pPr>
            <a:r>
              <a:rPr lang="en-US" sz="3800" b="1" dirty="0">
                <a:solidFill>
                  <a:srgbClr val="443728"/>
                </a:solidFill>
                <a:latin typeface="Stylus BT" panose="020E0402020206020304" pitchFamily="34" charset="0"/>
                <a:ea typeface="Crimson Pro Bold" pitchFamily="34" charset="-122"/>
                <a:cs typeface="Crimson Pro Bold" pitchFamily="34" charset="-120"/>
              </a:rPr>
              <a:t>Dataset Overview</a:t>
            </a:r>
            <a:endParaRPr lang="en-US" sz="3800" dirty="0">
              <a:latin typeface="Stylus BT" panose="020E0402020206020304" pitchFamily="34" charset="0"/>
            </a:endParaRPr>
          </a:p>
        </p:txBody>
      </p:sp>
      <p:sp>
        <p:nvSpPr>
          <p:cNvPr id="4" name="Text 1"/>
          <p:cNvSpPr/>
          <p:nvPr/>
        </p:nvSpPr>
        <p:spPr>
          <a:xfrm>
            <a:off x="6170771" y="1697950"/>
            <a:ext cx="2428756" cy="645319"/>
          </a:xfrm>
          <a:prstGeom prst="rect">
            <a:avLst/>
          </a:prstGeom>
          <a:noFill/>
          <a:ln/>
        </p:spPr>
        <p:txBody>
          <a:bodyPr wrap="none" lIns="0" tIns="0" rIns="0" bIns="0" rtlCol="0" anchor="t"/>
          <a:lstStyle/>
          <a:p>
            <a:pPr marL="0" indent="0" algn="ctr">
              <a:lnSpc>
                <a:spcPts val="5050"/>
              </a:lnSpc>
              <a:buNone/>
            </a:pPr>
            <a:r>
              <a:rPr lang="en-US" sz="5050" b="1" dirty="0">
                <a:solidFill>
                  <a:srgbClr val="443728"/>
                </a:solidFill>
                <a:latin typeface="Stylus BT" panose="020E0402020206020304" pitchFamily="34" charset="0"/>
                <a:ea typeface="Crimson Pro Bold"/>
                <a:cs typeface="Crimson Pro Bold" pitchFamily="34" charset="-120"/>
              </a:rPr>
              <a:t>3,900</a:t>
            </a:r>
            <a:endParaRPr lang="en-US" sz="5050" dirty="0">
              <a:latin typeface="Stylus BT" panose="020E0402020206020304" pitchFamily="34" charset="0"/>
              <a:ea typeface="Crimson Pro Bold"/>
            </a:endParaRPr>
          </a:p>
        </p:txBody>
      </p:sp>
      <p:sp>
        <p:nvSpPr>
          <p:cNvPr id="5" name="Text 2"/>
          <p:cNvSpPr/>
          <p:nvPr/>
        </p:nvSpPr>
        <p:spPr>
          <a:xfrm>
            <a:off x="6170771" y="2587585"/>
            <a:ext cx="2428756" cy="305514"/>
          </a:xfrm>
          <a:prstGeom prst="rect">
            <a:avLst/>
          </a:prstGeom>
          <a:noFill/>
          <a:ln/>
        </p:spPr>
        <p:txBody>
          <a:bodyPr wrap="none" lIns="0" tIns="0" rIns="0" bIns="0" rtlCol="0" anchor="t"/>
          <a:lstStyle/>
          <a:p>
            <a:pPr marL="0" indent="0" algn="ctr">
              <a:lnSpc>
                <a:spcPts val="2400"/>
              </a:lnSpc>
              <a:buNone/>
            </a:pPr>
            <a:r>
              <a:rPr lang="en-US" sz="1900" b="1" dirty="0">
                <a:solidFill>
                  <a:srgbClr val="443728"/>
                </a:solidFill>
                <a:latin typeface="Stylus BT" panose="020E0402020206020304" pitchFamily="34" charset="0"/>
                <a:ea typeface="Crimson Pro Bold" pitchFamily="34" charset="-122"/>
                <a:cs typeface="Crimson Pro Bold" pitchFamily="34" charset="-120"/>
              </a:rPr>
              <a:t>Total Purchases</a:t>
            </a:r>
            <a:endParaRPr lang="en-US" sz="1900" dirty="0">
              <a:latin typeface="Stylus BT" panose="020E0402020206020304" pitchFamily="34" charset="0"/>
            </a:endParaRPr>
          </a:p>
        </p:txBody>
      </p:sp>
      <p:sp>
        <p:nvSpPr>
          <p:cNvPr id="6" name="Text 3"/>
          <p:cNvSpPr/>
          <p:nvPr/>
        </p:nvSpPr>
        <p:spPr>
          <a:xfrm>
            <a:off x="6170771" y="3010376"/>
            <a:ext cx="2428756" cy="625554"/>
          </a:xfrm>
          <a:prstGeom prst="rect">
            <a:avLst/>
          </a:prstGeom>
          <a:noFill/>
          <a:ln/>
        </p:spPr>
        <p:txBody>
          <a:bodyPr wrap="square" lIns="0" tIns="0" rIns="0" bIns="0" rtlCol="0" anchor="t"/>
          <a:lstStyle/>
          <a:p>
            <a:pPr marL="0" indent="0" algn="ctr">
              <a:lnSpc>
                <a:spcPts val="2450"/>
              </a:lnSpc>
              <a:buNone/>
            </a:pPr>
            <a:r>
              <a:rPr lang="en-US" sz="1500" dirty="0">
                <a:solidFill>
                  <a:srgbClr val="443728"/>
                </a:solidFill>
                <a:latin typeface="Open Sans" pitchFamily="34" charset="0"/>
                <a:ea typeface="Open Sans" pitchFamily="34" charset="-122"/>
                <a:cs typeface="Open Sans" pitchFamily="34" charset="-120"/>
              </a:rPr>
              <a:t>Transactions analyzed across all categories</a:t>
            </a:r>
            <a:endParaRPr lang="en-US" sz="1500" dirty="0"/>
          </a:p>
        </p:txBody>
      </p:sp>
      <p:sp>
        <p:nvSpPr>
          <p:cNvPr id="7" name="Text 4"/>
          <p:cNvSpPr/>
          <p:nvPr/>
        </p:nvSpPr>
        <p:spPr>
          <a:xfrm>
            <a:off x="8843963" y="1697950"/>
            <a:ext cx="2428756" cy="645319"/>
          </a:xfrm>
          <a:prstGeom prst="rect">
            <a:avLst/>
          </a:prstGeom>
          <a:noFill/>
          <a:ln/>
        </p:spPr>
        <p:txBody>
          <a:bodyPr wrap="none" lIns="0" tIns="0" rIns="0" bIns="0" rtlCol="0" anchor="t"/>
          <a:lstStyle/>
          <a:p>
            <a:pPr marL="0" indent="0" algn="ctr">
              <a:lnSpc>
                <a:spcPts val="5050"/>
              </a:lnSpc>
              <a:buNone/>
            </a:pPr>
            <a:r>
              <a:rPr lang="en-US" sz="5050" b="1" dirty="0">
                <a:solidFill>
                  <a:srgbClr val="443728"/>
                </a:solidFill>
                <a:latin typeface="Stylus BT" panose="020E0402020206020304" pitchFamily="34" charset="0"/>
                <a:ea typeface="Crimson Pro Bold" pitchFamily="34" charset="-122"/>
                <a:cs typeface="Crimson Pro Bold" pitchFamily="34" charset="-120"/>
              </a:rPr>
              <a:t>18</a:t>
            </a:r>
            <a:endParaRPr lang="en-US" sz="5050" dirty="0">
              <a:latin typeface="Stylus BT" panose="020E0402020206020304" pitchFamily="34" charset="0"/>
            </a:endParaRPr>
          </a:p>
        </p:txBody>
      </p:sp>
      <p:sp>
        <p:nvSpPr>
          <p:cNvPr id="8" name="Text 5"/>
          <p:cNvSpPr/>
          <p:nvPr/>
        </p:nvSpPr>
        <p:spPr>
          <a:xfrm>
            <a:off x="8843963" y="2587585"/>
            <a:ext cx="2428756" cy="305514"/>
          </a:xfrm>
          <a:prstGeom prst="rect">
            <a:avLst/>
          </a:prstGeom>
          <a:noFill/>
          <a:ln/>
        </p:spPr>
        <p:txBody>
          <a:bodyPr wrap="none" lIns="0" tIns="0" rIns="0" bIns="0" rtlCol="0" anchor="t"/>
          <a:lstStyle/>
          <a:p>
            <a:pPr marL="0" indent="0" algn="ctr">
              <a:lnSpc>
                <a:spcPts val="2400"/>
              </a:lnSpc>
              <a:buNone/>
            </a:pPr>
            <a:r>
              <a:rPr lang="en-US" sz="1900" b="1" dirty="0">
                <a:solidFill>
                  <a:srgbClr val="443728"/>
                </a:solidFill>
                <a:latin typeface="Stylus BT" panose="020E0402020206020304" pitchFamily="34" charset="0"/>
                <a:ea typeface="Crimson Pro Bold" pitchFamily="34" charset="-122"/>
                <a:cs typeface="Crimson Pro Bold" pitchFamily="34" charset="-120"/>
              </a:rPr>
              <a:t>Data Columns</a:t>
            </a:r>
            <a:endParaRPr lang="en-US" sz="1900" dirty="0">
              <a:latin typeface="Stylus BT" panose="020E0402020206020304" pitchFamily="34" charset="0"/>
            </a:endParaRPr>
          </a:p>
        </p:txBody>
      </p:sp>
      <p:sp>
        <p:nvSpPr>
          <p:cNvPr id="9" name="Text 6"/>
          <p:cNvSpPr/>
          <p:nvPr/>
        </p:nvSpPr>
        <p:spPr>
          <a:xfrm>
            <a:off x="8843963" y="3010376"/>
            <a:ext cx="2428756" cy="625554"/>
          </a:xfrm>
          <a:prstGeom prst="rect">
            <a:avLst/>
          </a:prstGeom>
          <a:noFill/>
          <a:ln/>
        </p:spPr>
        <p:txBody>
          <a:bodyPr wrap="square" lIns="0" tIns="0" rIns="0" bIns="0" rtlCol="0" anchor="t"/>
          <a:lstStyle/>
          <a:p>
            <a:pPr marL="0" indent="0" algn="ctr">
              <a:lnSpc>
                <a:spcPts val="2450"/>
              </a:lnSpc>
              <a:buNone/>
            </a:pPr>
            <a:r>
              <a:rPr lang="en-US" sz="1500" dirty="0">
                <a:solidFill>
                  <a:srgbClr val="443728"/>
                </a:solidFill>
                <a:latin typeface="Open Sans" pitchFamily="34" charset="0"/>
                <a:ea typeface="Open Sans" pitchFamily="34" charset="-122"/>
                <a:cs typeface="Open Sans" pitchFamily="34" charset="-120"/>
              </a:rPr>
              <a:t>Comprehensive customer and purchase attributes</a:t>
            </a:r>
            <a:endParaRPr lang="en-US" sz="1500" dirty="0"/>
          </a:p>
        </p:txBody>
      </p:sp>
      <p:sp>
        <p:nvSpPr>
          <p:cNvPr id="10" name="Text 7"/>
          <p:cNvSpPr/>
          <p:nvPr/>
        </p:nvSpPr>
        <p:spPr>
          <a:xfrm>
            <a:off x="11517154" y="1697950"/>
            <a:ext cx="2428756" cy="645319"/>
          </a:xfrm>
          <a:prstGeom prst="rect">
            <a:avLst/>
          </a:prstGeom>
          <a:noFill/>
          <a:ln/>
        </p:spPr>
        <p:txBody>
          <a:bodyPr wrap="none" lIns="0" tIns="0" rIns="0" bIns="0" rtlCol="0" anchor="t"/>
          <a:lstStyle/>
          <a:p>
            <a:pPr marL="0" indent="0" algn="ctr">
              <a:lnSpc>
                <a:spcPts val="5050"/>
              </a:lnSpc>
              <a:buNone/>
            </a:pPr>
            <a:r>
              <a:rPr lang="en-US" sz="5050" b="1" dirty="0">
                <a:solidFill>
                  <a:srgbClr val="443728"/>
                </a:solidFill>
                <a:latin typeface="Stylus BT" panose="020E0402020206020304" pitchFamily="34" charset="0"/>
                <a:ea typeface="Crimson Pro Bold" pitchFamily="34" charset="-122"/>
                <a:cs typeface="Crimson Pro Bold" pitchFamily="34" charset="-120"/>
              </a:rPr>
              <a:t>50</a:t>
            </a:r>
            <a:endParaRPr lang="en-US" sz="5050" dirty="0">
              <a:latin typeface="Stylus BT" panose="020E0402020206020304" pitchFamily="34" charset="0"/>
            </a:endParaRPr>
          </a:p>
        </p:txBody>
      </p:sp>
      <p:sp>
        <p:nvSpPr>
          <p:cNvPr id="11" name="Text 8"/>
          <p:cNvSpPr/>
          <p:nvPr/>
        </p:nvSpPr>
        <p:spPr>
          <a:xfrm>
            <a:off x="11517154" y="2587585"/>
            <a:ext cx="2428756" cy="305514"/>
          </a:xfrm>
          <a:prstGeom prst="rect">
            <a:avLst/>
          </a:prstGeom>
          <a:noFill/>
          <a:ln/>
        </p:spPr>
        <p:txBody>
          <a:bodyPr wrap="none" lIns="0" tIns="0" rIns="0" bIns="0" rtlCol="0" anchor="t"/>
          <a:lstStyle/>
          <a:p>
            <a:pPr marL="0" indent="0" algn="ctr">
              <a:lnSpc>
                <a:spcPts val="2400"/>
              </a:lnSpc>
              <a:buNone/>
            </a:pPr>
            <a:r>
              <a:rPr lang="en-US" sz="1900" b="1" dirty="0">
                <a:solidFill>
                  <a:srgbClr val="443728"/>
                </a:solidFill>
                <a:latin typeface="Stylus BT" panose="020E0402020206020304" pitchFamily="34" charset="0"/>
                <a:ea typeface="Crimson Pro Bold" pitchFamily="34" charset="-122"/>
                <a:cs typeface="Crimson Pro Bold" pitchFamily="34" charset="-120"/>
              </a:rPr>
              <a:t>Locations</a:t>
            </a:r>
            <a:endParaRPr lang="en-US" sz="1900" dirty="0">
              <a:latin typeface="Stylus BT" panose="020E0402020206020304" pitchFamily="34" charset="0"/>
            </a:endParaRPr>
          </a:p>
        </p:txBody>
      </p:sp>
      <p:sp>
        <p:nvSpPr>
          <p:cNvPr id="12" name="Text 9"/>
          <p:cNvSpPr/>
          <p:nvPr/>
        </p:nvSpPr>
        <p:spPr>
          <a:xfrm>
            <a:off x="11517154" y="3010376"/>
            <a:ext cx="2428756" cy="625554"/>
          </a:xfrm>
          <a:prstGeom prst="rect">
            <a:avLst/>
          </a:prstGeom>
          <a:noFill/>
          <a:ln/>
        </p:spPr>
        <p:txBody>
          <a:bodyPr wrap="square" lIns="0" tIns="0" rIns="0" bIns="0" rtlCol="0" anchor="t"/>
          <a:lstStyle/>
          <a:p>
            <a:pPr marL="0" indent="0" algn="ctr">
              <a:lnSpc>
                <a:spcPts val="2450"/>
              </a:lnSpc>
              <a:buNone/>
            </a:pPr>
            <a:r>
              <a:rPr lang="en-US" sz="1500" dirty="0">
                <a:solidFill>
                  <a:srgbClr val="443728"/>
                </a:solidFill>
                <a:latin typeface="Open Sans" pitchFamily="34" charset="0"/>
                <a:ea typeface="Open Sans" pitchFamily="34" charset="-122"/>
                <a:cs typeface="Open Sans" pitchFamily="34" charset="-120"/>
              </a:rPr>
              <a:t>Geographic diversity in customer base</a:t>
            </a:r>
            <a:endParaRPr lang="en-US" sz="1500" dirty="0"/>
          </a:p>
        </p:txBody>
      </p:sp>
      <p:sp>
        <p:nvSpPr>
          <p:cNvPr id="13" name="Text 10"/>
          <p:cNvSpPr/>
          <p:nvPr/>
        </p:nvSpPr>
        <p:spPr>
          <a:xfrm>
            <a:off x="8843963" y="4124682"/>
            <a:ext cx="2428756" cy="645319"/>
          </a:xfrm>
          <a:prstGeom prst="rect">
            <a:avLst/>
          </a:prstGeom>
          <a:noFill/>
          <a:ln/>
        </p:spPr>
        <p:txBody>
          <a:bodyPr wrap="none" lIns="0" tIns="0" rIns="0" bIns="0" rtlCol="0" anchor="t"/>
          <a:lstStyle/>
          <a:p>
            <a:pPr marL="0" indent="0" algn="ctr">
              <a:lnSpc>
                <a:spcPts val="5050"/>
              </a:lnSpc>
              <a:buNone/>
            </a:pPr>
            <a:r>
              <a:rPr lang="en-US" sz="5050" b="1" dirty="0">
                <a:solidFill>
                  <a:srgbClr val="443728"/>
                </a:solidFill>
                <a:latin typeface="Stylus BT" panose="020E0402020206020304" pitchFamily="34" charset="0"/>
                <a:ea typeface="Crimson Pro Bold" pitchFamily="34" charset="-122"/>
                <a:cs typeface="Crimson Pro Bold" pitchFamily="34" charset="-120"/>
              </a:rPr>
              <a:t>25</a:t>
            </a:r>
            <a:endParaRPr lang="en-US" sz="5050" dirty="0">
              <a:latin typeface="Stylus BT" panose="020E0402020206020304" pitchFamily="34" charset="0"/>
            </a:endParaRPr>
          </a:p>
        </p:txBody>
      </p:sp>
      <p:sp>
        <p:nvSpPr>
          <p:cNvPr id="14" name="Text 11"/>
          <p:cNvSpPr/>
          <p:nvPr/>
        </p:nvSpPr>
        <p:spPr>
          <a:xfrm>
            <a:off x="8843963" y="5014317"/>
            <a:ext cx="2428756" cy="305514"/>
          </a:xfrm>
          <a:prstGeom prst="rect">
            <a:avLst/>
          </a:prstGeom>
          <a:noFill/>
          <a:ln/>
        </p:spPr>
        <p:txBody>
          <a:bodyPr wrap="none" lIns="0" tIns="0" rIns="0" bIns="0" rtlCol="0" anchor="t"/>
          <a:lstStyle/>
          <a:p>
            <a:pPr marL="0" indent="0" algn="ctr">
              <a:lnSpc>
                <a:spcPts val="2400"/>
              </a:lnSpc>
              <a:buNone/>
            </a:pPr>
            <a:r>
              <a:rPr lang="en-US" sz="1900" b="1" dirty="0">
                <a:solidFill>
                  <a:srgbClr val="443728"/>
                </a:solidFill>
                <a:latin typeface="Stylus BT" panose="020E0402020206020304" pitchFamily="34" charset="0"/>
                <a:ea typeface="Crimson Pro Bold" pitchFamily="34" charset="-122"/>
                <a:cs typeface="Crimson Pro Bold" pitchFamily="34" charset="-120"/>
              </a:rPr>
              <a:t>Product Types</a:t>
            </a:r>
            <a:endParaRPr lang="en-US" sz="1900" dirty="0">
              <a:latin typeface="Stylus BT" panose="020E0402020206020304" pitchFamily="34" charset="0"/>
            </a:endParaRPr>
          </a:p>
        </p:txBody>
      </p:sp>
      <p:sp>
        <p:nvSpPr>
          <p:cNvPr id="15" name="Text 12"/>
          <p:cNvSpPr/>
          <p:nvPr/>
        </p:nvSpPr>
        <p:spPr>
          <a:xfrm>
            <a:off x="8843963" y="5437108"/>
            <a:ext cx="2428756" cy="625554"/>
          </a:xfrm>
          <a:prstGeom prst="rect">
            <a:avLst/>
          </a:prstGeom>
          <a:noFill/>
          <a:ln/>
        </p:spPr>
        <p:txBody>
          <a:bodyPr wrap="square" lIns="0" tIns="0" rIns="0" bIns="0" rtlCol="0" anchor="t"/>
          <a:lstStyle/>
          <a:p>
            <a:pPr marL="0" indent="0" algn="ctr">
              <a:lnSpc>
                <a:spcPts val="2450"/>
              </a:lnSpc>
              <a:buNone/>
            </a:pPr>
            <a:r>
              <a:rPr lang="en-US" sz="1500" dirty="0">
                <a:solidFill>
                  <a:srgbClr val="443728"/>
                </a:solidFill>
                <a:latin typeface="Open Sans" pitchFamily="34" charset="0"/>
                <a:ea typeface="Open Sans" pitchFamily="34" charset="-122"/>
                <a:cs typeface="Open Sans" pitchFamily="34" charset="-120"/>
              </a:rPr>
              <a:t>Items across four major categories</a:t>
            </a:r>
            <a:endParaRPr lang="en-US" sz="1500" dirty="0"/>
          </a:p>
        </p:txBody>
      </p:sp>
      <p:sp>
        <p:nvSpPr>
          <p:cNvPr id="16" name="Text 13"/>
          <p:cNvSpPr/>
          <p:nvPr/>
        </p:nvSpPr>
        <p:spPr>
          <a:xfrm>
            <a:off x="6170771" y="6282571"/>
            <a:ext cx="7775258" cy="1251109"/>
          </a:xfrm>
          <a:prstGeom prst="rect">
            <a:avLst/>
          </a:prstGeom>
          <a:noFill/>
          <a:ln/>
        </p:spPr>
        <p:txBody>
          <a:bodyPr wrap="square" lIns="0" tIns="0" rIns="0" bIns="0" rtlCol="0" anchor="t"/>
          <a:lstStyle/>
          <a:p>
            <a:pPr marL="0" indent="0" algn="l">
              <a:lnSpc>
                <a:spcPts val="2450"/>
              </a:lnSpc>
              <a:buNone/>
            </a:pPr>
            <a:r>
              <a:rPr lang="en-US" sz="1500" dirty="0">
                <a:solidFill>
                  <a:srgbClr val="443728"/>
                </a:solidFill>
                <a:latin typeface="Open Sans" pitchFamily="34" charset="0"/>
                <a:ea typeface="Open Sans" pitchFamily="34" charset="-122"/>
                <a:cs typeface="Open Sans" pitchFamily="34" charset="-120"/>
              </a:rPr>
              <a:t>Key features include customer demographics (age, gender, location, subscription status), purchase details (item, category, amount, season, size, color), and shopping behavior (discounts, promo codes, previous purchases, frequency, review ratings, shipping type).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71486" y="538996"/>
            <a:ext cx="5967293" cy="611743"/>
          </a:xfrm>
          <a:prstGeom prst="rect">
            <a:avLst/>
          </a:prstGeom>
          <a:noFill/>
          <a:ln/>
        </p:spPr>
        <p:txBody>
          <a:bodyPr wrap="none" lIns="0" tIns="0" rIns="0" bIns="0" rtlCol="0" anchor="t"/>
          <a:lstStyle/>
          <a:p>
            <a:pPr marL="0" indent="0" algn="l">
              <a:lnSpc>
                <a:spcPts val="4800"/>
              </a:lnSpc>
              <a:buNone/>
            </a:pPr>
            <a:r>
              <a:rPr lang="en-US" sz="3850" b="1" dirty="0">
                <a:solidFill>
                  <a:srgbClr val="443728"/>
                </a:solidFill>
                <a:latin typeface="Stylus BT" panose="020E0402020206020304" pitchFamily="34" charset="0"/>
                <a:ea typeface="Crimson Pro Bold" pitchFamily="34" charset="-122"/>
                <a:cs typeface="Crimson Pro Bold" pitchFamily="34" charset="-120"/>
              </a:rPr>
              <a:t>Data Preparation &amp; Cleaning</a:t>
            </a:r>
            <a:endParaRPr lang="en-US" sz="3850" dirty="0">
              <a:latin typeface="Stylus BT" panose="020E0402020206020304" pitchFamily="34" charset="0"/>
            </a:endParaRPr>
          </a:p>
        </p:txBody>
      </p:sp>
      <p:sp>
        <p:nvSpPr>
          <p:cNvPr id="4" name="Text 1"/>
          <p:cNvSpPr/>
          <p:nvPr/>
        </p:nvSpPr>
        <p:spPr>
          <a:xfrm>
            <a:off x="6171486" y="1444347"/>
            <a:ext cx="195739" cy="244673"/>
          </a:xfrm>
          <a:prstGeom prst="rect">
            <a:avLst/>
          </a:prstGeom>
          <a:noFill/>
          <a:ln/>
        </p:spPr>
        <p:txBody>
          <a:bodyPr wrap="none" lIns="0" tIns="0" rIns="0" bIns="0" rtlCol="0" anchor="t"/>
          <a:lstStyle/>
          <a:p>
            <a:pPr marL="0" indent="0" algn="l">
              <a:lnSpc>
                <a:spcPts val="2450"/>
              </a:lnSpc>
              <a:buNone/>
            </a:pPr>
            <a:r>
              <a:rPr lang="en-US" sz="1500" dirty="0">
                <a:solidFill>
                  <a:srgbClr val="443728"/>
                </a:solidFill>
                <a:latin typeface="Crimson Pro Light" pitchFamily="34" charset="0"/>
                <a:ea typeface="Crimson Pro Light" pitchFamily="34" charset="-122"/>
                <a:cs typeface="Crimson Pro Light" pitchFamily="34" charset="-120"/>
              </a:rPr>
              <a:t>01</a:t>
            </a:r>
            <a:endParaRPr lang="en-US" sz="1500" dirty="0"/>
          </a:p>
        </p:txBody>
      </p:sp>
      <p:sp>
        <p:nvSpPr>
          <p:cNvPr id="5" name="Shape 2"/>
          <p:cNvSpPr/>
          <p:nvPr/>
        </p:nvSpPr>
        <p:spPr>
          <a:xfrm>
            <a:off x="6171486" y="1754148"/>
            <a:ext cx="7773829" cy="22860"/>
          </a:xfrm>
          <a:prstGeom prst="rect">
            <a:avLst/>
          </a:prstGeom>
          <a:solidFill>
            <a:srgbClr val="835E54"/>
          </a:solidFill>
          <a:ln/>
        </p:spPr>
      </p:sp>
      <p:sp>
        <p:nvSpPr>
          <p:cNvPr id="6" name="Text 3"/>
          <p:cNvSpPr/>
          <p:nvPr/>
        </p:nvSpPr>
        <p:spPr>
          <a:xfrm>
            <a:off x="6171486" y="1897737"/>
            <a:ext cx="2898577" cy="305753"/>
          </a:xfrm>
          <a:prstGeom prst="rect">
            <a:avLst/>
          </a:prstGeom>
          <a:noFill/>
          <a:ln/>
        </p:spPr>
        <p:txBody>
          <a:bodyPr wrap="none" lIns="0" tIns="0" rIns="0" bIns="0" rtlCol="0" anchor="t"/>
          <a:lstStyle/>
          <a:p>
            <a:pPr marL="0" indent="0" algn="l">
              <a:lnSpc>
                <a:spcPts val="2400"/>
              </a:lnSpc>
              <a:buNone/>
            </a:pPr>
            <a:r>
              <a:rPr lang="en-US" sz="1900" b="1" dirty="0">
                <a:solidFill>
                  <a:srgbClr val="443728"/>
                </a:solidFill>
                <a:latin typeface="Stylus BT" panose="020E0402020206020304" pitchFamily="34" charset="0"/>
                <a:ea typeface="Crimson Pro Bold" pitchFamily="34" charset="-122"/>
                <a:cs typeface="Crimson Pro Bold" pitchFamily="34" charset="-120"/>
              </a:rPr>
              <a:t>Data Loading &amp; Exploration</a:t>
            </a:r>
            <a:endParaRPr lang="en-US" sz="1900" dirty="0">
              <a:latin typeface="Stylus BT" panose="020E0402020206020304" pitchFamily="34" charset="0"/>
            </a:endParaRPr>
          </a:p>
        </p:txBody>
      </p:sp>
      <p:sp>
        <p:nvSpPr>
          <p:cNvPr id="7" name="Text 4"/>
          <p:cNvSpPr/>
          <p:nvPr/>
        </p:nvSpPr>
        <p:spPr>
          <a:xfrm>
            <a:off x="6171486" y="2320885"/>
            <a:ext cx="7773829" cy="626269"/>
          </a:xfrm>
          <a:prstGeom prst="rect">
            <a:avLst/>
          </a:prstGeom>
          <a:noFill/>
          <a:ln/>
        </p:spPr>
        <p:txBody>
          <a:bodyPr wrap="square" lIns="0" tIns="0" rIns="0" bIns="0" rtlCol="0" anchor="t"/>
          <a:lstStyle/>
          <a:p>
            <a:pPr marL="0" indent="0" algn="l">
              <a:lnSpc>
                <a:spcPts val="2450"/>
              </a:lnSpc>
              <a:buNone/>
            </a:pPr>
            <a:r>
              <a:rPr lang="en-US" sz="1500" dirty="0">
                <a:solidFill>
                  <a:srgbClr val="443728"/>
                </a:solidFill>
                <a:latin typeface="Open Sans" pitchFamily="34" charset="0"/>
                <a:ea typeface="Open Sans" pitchFamily="34" charset="-122"/>
                <a:cs typeface="Open Sans" pitchFamily="34" charset="-120"/>
              </a:rPr>
              <a:t>Imported dataset using pandas, analyzed structure with df.info() and summary statistics with .describe()</a:t>
            </a:r>
            <a:endParaRPr lang="en-US" sz="1500" dirty="0"/>
          </a:p>
        </p:txBody>
      </p:sp>
      <p:sp>
        <p:nvSpPr>
          <p:cNvPr id="8" name="Text 5"/>
          <p:cNvSpPr/>
          <p:nvPr/>
        </p:nvSpPr>
        <p:spPr>
          <a:xfrm>
            <a:off x="6171486" y="3289697"/>
            <a:ext cx="195739" cy="244673"/>
          </a:xfrm>
          <a:prstGeom prst="rect">
            <a:avLst/>
          </a:prstGeom>
          <a:noFill/>
          <a:ln/>
        </p:spPr>
        <p:txBody>
          <a:bodyPr wrap="none" lIns="0" tIns="0" rIns="0" bIns="0" rtlCol="0" anchor="t"/>
          <a:lstStyle/>
          <a:p>
            <a:pPr marL="0" indent="0" algn="l">
              <a:lnSpc>
                <a:spcPts val="2450"/>
              </a:lnSpc>
              <a:buNone/>
            </a:pPr>
            <a:r>
              <a:rPr lang="en-US" sz="1500" dirty="0">
                <a:solidFill>
                  <a:srgbClr val="443728"/>
                </a:solidFill>
                <a:latin typeface="Crimson Pro Light" pitchFamily="34" charset="0"/>
                <a:ea typeface="Crimson Pro Light" pitchFamily="34" charset="-122"/>
                <a:cs typeface="Crimson Pro Light" pitchFamily="34" charset="-120"/>
              </a:rPr>
              <a:t>02</a:t>
            </a:r>
            <a:endParaRPr lang="en-US" sz="1500" dirty="0"/>
          </a:p>
        </p:txBody>
      </p:sp>
      <p:sp>
        <p:nvSpPr>
          <p:cNvPr id="9" name="Shape 6"/>
          <p:cNvSpPr/>
          <p:nvPr/>
        </p:nvSpPr>
        <p:spPr>
          <a:xfrm>
            <a:off x="6171486" y="3599497"/>
            <a:ext cx="7773829" cy="22860"/>
          </a:xfrm>
          <a:prstGeom prst="rect">
            <a:avLst/>
          </a:prstGeom>
          <a:solidFill>
            <a:srgbClr val="835E54"/>
          </a:solidFill>
          <a:ln/>
        </p:spPr>
      </p:sp>
      <p:sp>
        <p:nvSpPr>
          <p:cNvPr id="10" name="Text 7"/>
          <p:cNvSpPr/>
          <p:nvPr/>
        </p:nvSpPr>
        <p:spPr>
          <a:xfrm>
            <a:off x="6171486" y="3743087"/>
            <a:ext cx="2447092" cy="305753"/>
          </a:xfrm>
          <a:prstGeom prst="rect">
            <a:avLst/>
          </a:prstGeom>
          <a:noFill/>
          <a:ln/>
        </p:spPr>
        <p:txBody>
          <a:bodyPr wrap="none" lIns="0" tIns="0" rIns="0" bIns="0" rtlCol="0" anchor="t"/>
          <a:lstStyle/>
          <a:p>
            <a:pPr marL="0" indent="0" algn="l">
              <a:lnSpc>
                <a:spcPts val="2400"/>
              </a:lnSpc>
              <a:buNone/>
            </a:pPr>
            <a:r>
              <a:rPr lang="en-US" sz="1900" b="1" dirty="0">
                <a:solidFill>
                  <a:srgbClr val="443728"/>
                </a:solidFill>
                <a:latin typeface="Stylus BT" panose="020E0402020206020304" pitchFamily="34" charset="0"/>
                <a:ea typeface="Crimson Pro Bold" pitchFamily="34" charset="-122"/>
                <a:cs typeface="Crimson Pro Bold" pitchFamily="34" charset="-120"/>
              </a:rPr>
              <a:t>Missing Data Handling</a:t>
            </a:r>
            <a:endParaRPr lang="en-US" sz="1900" dirty="0">
              <a:latin typeface="Stylus BT" panose="020E0402020206020304" pitchFamily="34" charset="0"/>
            </a:endParaRPr>
          </a:p>
        </p:txBody>
      </p:sp>
      <p:sp>
        <p:nvSpPr>
          <p:cNvPr id="11" name="Text 8"/>
          <p:cNvSpPr/>
          <p:nvPr/>
        </p:nvSpPr>
        <p:spPr>
          <a:xfrm>
            <a:off x="6171486" y="4166235"/>
            <a:ext cx="7773829" cy="313134"/>
          </a:xfrm>
          <a:prstGeom prst="rect">
            <a:avLst/>
          </a:prstGeom>
          <a:noFill/>
          <a:ln/>
        </p:spPr>
        <p:txBody>
          <a:bodyPr wrap="none" lIns="0" tIns="0" rIns="0" bIns="0" rtlCol="0" anchor="t"/>
          <a:lstStyle/>
          <a:p>
            <a:pPr marL="0" indent="0" algn="l">
              <a:lnSpc>
                <a:spcPts val="2450"/>
              </a:lnSpc>
              <a:buNone/>
            </a:pPr>
            <a:r>
              <a:rPr lang="en-US" sz="1500" dirty="0">
                <a:solidFill>
                  <a:srgbClr val="443728"/>
                </a:solidFill>
                <a:latin typeface="Open Sans" pitchFamily="34" charset="0"/>
                <a:ea typeface="Open Sans" pitchFamily="34" charset="-122"/>
                <a:cs typeface="Open Sans" pitchFamily="34" charset="-120"/>
              </a:rPr>
              <a:t>Imputed 37 missing Review Rating values using median rating per product category</a:t>
            </a:r>
            <a:endParaRPr lang="en-US" sz="1500" dirty="0"/>
          </a:p>
        </p:txBody>
      </p:sp>
      <p:sp>
        <p:nvSpPr>
          <p:cNvPr id="12" name="Text 9"/>
          <p:cNvSpPr/>
          <p:nvPr/>
        </p:nvSpPr>
        <p:spPr>
          <a:xfrm>
            <a:off x="6171486" y="4821912"/>
            <a:ext cx="195739" cy="244673"/>
          </a:xfrm>
          <a:prstGeom prst="rect">
            <a:avLst/>
          </a:prstGeom>
          <a:noFill/>
          <a:ln/>
        </p:spPr>
        <p:txBody>
          <a:bodyPr wrap="none" lIns="0" tIns="0" rIns="0" bIns="0" rtlCol="0" anchor="t"/>
          <a:lstStyle/>
          <a:p>
            <a:pPr marL="0" indent="0" algn="l">
              <a:lnSpc>
                <a:spcPts val="2450"/>
              </a:lnSpc>
              <a:buNone/>
            </a:pPr>
            <a:r>
              <a:rPr lang="en-US" sz="1500" dirty="0">
                <a:solidFill>
                  <a:srgbClr val="443728"/>
                </a:solidFill>
                <a:latin typeface="Crimson Pro Light" pitchFamily="34" charset="0"/>
                <a:ea typeface="Crimson Pro Light" pitchFamily="34" charset="-122"/>
                <a:cs typeface="Crimson Pro Light" pitchFamily="34" charset="-120"/>
              </a:rPr>
              <a:t>03</a:t>
            </a:r>
            <a:endParaRPr lang="en-US" sz="1500" dirty="0"/>
          </a:p>
        </p:txBody>
      </p:sp>
      <p:sp>
        <p:nvSpPr>
          <p:cNvPr id="13" name="Shape 10"/>
          <p:cNvSpPr/>
          <p:nvPr/>
        </p:nvSpPr>
        <p:spPr>
          <a:xfrm>
            <a:off x="6171486" y="5131713"/>
            <a:ext cx="7773829" cy="22860"/>
          </a:xfrm>
          <a:prstGeom prst="rect">
            <a:avLst/>
          </a:prstGeom>
          <a:solidFill>
            <a:srgbClr val="835E54"/>
          </a:solidFill>
          <a:ln/>
        </p:spPr>
      </p:sp>
      <p:sp>
        <p:nvSpPr>
          <p:cNvPr id="14" name="Text 11"/>
          <p:cNvSpPr/>
          <p:nvPr/>
        </p:nvSpPr>
        <p:spPr>
          <a:xfrm>
            <a:off x="6171486" y="5275302"/>
            <a:ext cx="2447092" cy="305753"/>
          </a:xfrm>
          <a:prstGeom prst="rect">
            <a:avLst/>
          </a:prstGeom>
          <a:noFill/>
          <a:ln/>
        </p:spPr>
        <p:txBody>
          <a:bodyPr wrap="none" lIns="0" tIns="0" rIns="0" bIns="0" rtlCol="0" anchor="t"/>
          <a:lstStyle/>
          <a:p>
            <a:pPr marL="0" indent="0" algn="l">
              <a:lnSpc>
                <a:spcPts val="2400"/>
              </a:lnSpc>
              <a:buNone/>
            </a:pPr>
            <a:r>
              <a:rPr lang="en-US" sz="1900" b="1" dirty="0">
                <a:solidFill>
                  <a:srgbClr val="443728"/>
                </a:solidFill>
                <a:latin typeface="Stylus BT" panose="020E0402020206020304" pitchFamily="34" charset="0"/>
                <a:ea typeface="Crimson Pro Bold" pitchFamily="34" charset="-122"/>
                <a:cs typeface="Crimson Pro Bold" pitchFamily="34" charset="-120"/>
              </a:rPr>
              <a:t>Feature Engineering</a:t>
            </a:r>
            <a:endParaRPr lang="en-US" sz="1900" dirty="0">
              <a:latin typeface="Stylus BT" panose="020E0402020206020304" pitchFamily="34" charset="0"/>
            </a:endParaRPr>
          </a:p>
        </p:txBody>
      </p:sp>
      <p:sp>
        <p:nvSpPr>
          <p:cNvPr id="15" name="Text 12"/>
          <p:cNvSpPr/>
          <p:nvPr/>
        </p:nvSpPr>
        <p:spPr>
          <a:xfrm>
            <a:off x="6171486" y="5698450"/>
            <a:ext cx="7773829" cy="313134"/>
          </a:xfrm>
          <a:prstGeom prst="rect">
            <a:avLst/>
          </a:prstGeom>
          <a:noFill/>
          <a:ln/>
        </p:spPr>
        <p:txBody>
          <a:bodyPr wrap="none" lIns="0" tIns="0" rIns="0" bIns="0" rtlCol="0" anchor="t"/>
          <a:lstStyle/>
          <a:p>
            <a:pPr marL="0" indent="0" algn="l">
              <a:lnSpc>
                <a:spcPts val="2450"/>
              </a:lnSpc>
              <a:buNone/>
            </a:pPr>
            <a:r>
              <a:rPr lang="en-US" sz="1500" dirty="0">
                <a:solidFill>
                  <a:srgbClr val="443728"/>
                </a:solidFill>
                <a:latin typeface="Open Sans" pitchFamily="34" charset="0"/>
                <a:ea typeface="Open Sans" pitchFamily="34" charset="-122"/>
                <a:cs typeface="Open Sans" pitchFamily="34" charset="-120"/>
              </a:rPr>
              <a:t>Created age_group bins and purchase_frequency_days columns for deeper analysis</a:t>
            </a:r>
            <a:endParaRPr lang="en-US" sz="1500" dirty="0"/>
          </a:p>
        </p:txBody>
      </p:sp>
      <p:sp>
        <p:nvSpPr>
          <p:cNvPr id="16" name="Text 13"/>
          <p:cNvSpPr/>
          <p:nvPr/>
        </p:nvSpPr>
        <p:spPr>
          <a:xfrm>
            <a:off x="6171486" y="6354128"/>
            <a:ext cx="195739" cy="244673"/>
          </a:xfrm>
          <a:prstGeom prst="rect">
            <a:avLst/>
          </a:prstGeom>
          <a:noFill/>
          <a:ln/>
        </p:spPr>
        <p:txBody>
          <a:bodyPr wrap="none" lIns="0" tIns="0" rIns="0" bIns="0" rtlCol="0" anchor="t"/>
          <a:lstStyle/>
          <a:p>
            <a:pPr marL="0" indent="0" algn="l">
              <a:lnSpc>
                <a:spcPts val="2450"/>
              </a:lnSpc>
              <a:buNone/>
            </a:pPr>
            <a:r>
              <a:rPr lang="en-US" sz="1500" dirty="0">
                <a:solidFill>
                  <a:srgbClr val="443728"/>
                </a:solidFill>
                <a:latin typeface="Crimson Pro Light" pitchFamily="34" charset="0"/>
                <a:ea typeface="Crimson Pro Light" pitchFamily="34" charset="-122"/>
                <a:cs typeface="Crimson Pro Light" pitchFamily="34" charset="-120"/>
              </a:rPr>
              <a:t>04</a:t>
            </a:r>
            <a:endParaRPr lang="en-US" sz="1500" dirty="0"/>
          </a:p>
        </p:txBody>
      </p:sp>
      <p:sp>
        <p:nvSpPr>
          <p:cNvPr id="17" name="Shape 14"/>
          <p:cNvSpPr/>
          <p:nvPr/>
        </p:nvSpPr>
        <p:spPr>
          <a:xfrm>
            <a:off x="6171486" y="6663928"/>
            <a:ext cx="7773829" cy="22860"/>
          </a:xfrm>
          <a:prstGeom prst="rect">
            <a:avLst/>
          </a:prstGeom>
          <a:solidFill>
            <a:srgbClr val="835E54"/>
          </a:solidFill>
          <a:ln/>
        </p:spPr>
      </p:sp>
      <p:sp>
        <p:nvSpPr>
          <p:cNvPr id="18" name="Text 15"/>
          <p:cNvSpPr/>
          <p:nvPr/>
        </p:nvSpPr>
        <p:spPr>
          <a:xfrm>
            <a:off x="6171486" y="6807517"/>
            <a:ext cx="2447092" cy="305753"/>
          </a:xfrm>
          <a:prstGeom prst="rect">
            <a:avLst/>
          </a:prstGeom>
          <a:noFill/>
          <a:ln/>
        </p:spPr>
        <p:txBody>
          <a:bodyPr wrap="none" lIns="0" tIns="0" rIns="0" bIns="0" rtlCol="0" anchor="t"/>
          <a:lstStyle/>
          <a:p>
            <a:pPr marL="0" indent="0" algn="l">
              <a:lnSpc>
                <a:spcPts val="2400"/>
              </a:lnSpc>
              <a:buNone/>
            </a:pPr>
            <a:r>
              <a:rPr lang="en-US" sz="1900" b="1" dirty="0">
                <a:solidFill>
                  <a:srgbClr val="443728"/>
                </a:solidFill>
                <a:latin typeface="Stylus BT" panose="020E0402020206020304" pitchFamily="34" charset="0"/>
                <a:ea typeface="Crimson Pro Bold" pitchFamily="34" charset="-122"/>
                <a:cs typeface="Crimson Pro Bold" pitchFamily="34" charset="-120"/>
              </a:rPr>
              <a:t>Database Integration</a:t>
            </a:r>
            <a:endParaRPr lang="en-US" sz="1900" dirty="0">
              <a:latin typeface="Stylus BT" panose="020E0402020206020304" pitchFamily="34" charset="0"/>
            </a:endParaRPr>
          </a:p>
        </p:txBody>
      </p:sp>
      <p:sp>
        <p:nvSpPr>
          <p:cNvPr id="19" name="Text 16"/>
          <p:cNvSpPr/>
          <p:nvPr/>
        </p:nvSpPr>
        <p:spPr>
          <a:xfrm>
            <a:off x="6171486" y="7230666"/>
            <a:ext cx="7773829" cy="313134"/>
          </a:xfrm>
          <a:prstGeom prst="rect">
            <a:avLst/>
          </a:prstGeom>
          <a:noFill/>
          <a:ln/>
        </p:spPr>
        <p:txBody>
          <a:bodyPr wrap="none" lIns="0" tIns="0" rIns="0" bIns="0" rtlCol="0" anchor="t"/>
          <a:lstStyle/>
          <a:p>
            <a:pPr marL="0" indent="0" algn="l">
              <a:lnSpc>
                <a:spcPts val="2450"/>
              </a:lnSpc>
              <a:buNone/>
            </a:pPr>
            <a:r>
              <a:rPr lang="en-US" sz="1500" dirty="0">
                <a:solidFill>
                  <a:srgbClr val="443728"/>
                </a:solidFill>
                <a:latin typeface="Open Sans" pitchFamily="34" charset="0"/>
                <a:ea typeface="Open Sans" pitchFamily="34" charset="-122"/>
                <a:cs typeface="Open Sans" pitchFamily="34" charset="-120"/>
              </a:rPr>
              <a:t>Connected to PostgreSQL and loaded cleaned data for SQL analysis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205984"/>
            <a:ext cx="6653212" cy="708779"/>
          </a:xfrm>
          <a:prstGeom prst="rect">
            <a:avLst/>
          </a:prstGeom>
          <a:noFill/>
          <a:ln/>
        </p:spPr>
        <p:txBody>
          <a:bodyPr wrap="none" lIns="0" tIns="0" rIns="0" bIns="0" rtlCol="0" anchor="t"/>
          <a:lstStyle/>
          <a:p>
            <a:pPr marL="0" indent="0" algn="l">
              <a:lnSpc>
                <a:spcPts val="5550"/>
              </a:lnSpc>
              <a:buNone/>
            </a:pPr>
            <a:r>
              <a:rPr lang="en-US" sz="4450" b="1" dirty="0">
                <a:solidFill>
                  <a:srgbClr val="443728"/>
                </a:solidFill>
                <a:latin typeface="Stylus BT" panose="020E0402020206020304" pitchFamily="34" charset="0"/>
                <a:ea typeface="Crimson Pro Bold" pitchFamily="34" charset="-122"/>
                <a:cs typeface="Crimson Pro Bold" pitchFamily="34" charset="-120"/>
              </a:rPr>
              <a:t>Revenue Insights by Gender</a:t>
            </a:r>
            <a:endParaRPr lang="en-US" sz="4450" dirty="0">
              <a:latin typeface="Stylus BT" panose="020E0402020206020304" pitchFamily="34" charset="0"/>
            </a:endParaRPr>
          </a:p>
        </p:txBody>
      </p:sp>
      <p:pic>
        <p:nvPicPr>
          <p:cNvPr id="3" name="Image 0" descr="preencoded.png"/>
          <p:cNvPicPr>
            <a:picLocks noChangeAspect="1"/>
          </p:cNvPicPr>
          <p:nvPr/>
        </p:nvPicPr>
        <p:blipFill>
          <a:blip r:embed="rId3"/>
          <a:stretch>
            <a:fillRect/>
          </a:stretch>
        </p:blipFill>
        <p:spPr>
          <a:xfrm>
            <a:off x="793790" y="2510076"/>
            <a:ext cx="7604284" cy="4001095"/>
          </a:xfrm>
          <a:prstGeom prst="rect">
            <a:avLst/>
          </a:prstGeom>
        </p:spPr>
      </p:pic>
      <p:sp>
        <p:nvSpPr>
          <p:cNvPr id="4" name="Shape 1"/>
          <p:cNvSpPr/>
          <p:nvPr/>
        </p:nvSpPr>
        <p:spPr>
          <a:xfrm>
            <a:off x="3717488" y="6541651"/>
            <a:ext cx="226814" cy="226814"/>
          </a:xfrm>
          <a:prstGeom prst="roundRect">
            <a:avLst>
              <a:gd name="adj" fmla="val 8063"/>
            </a:avLst>
          </a:prstGeom>
          <a:solidFill>
            <a:srgbClr val="2F211E"/>
          </a:solidFill>
          <a:ln/>
        </p:spPr>
      </p:sp>
      <p:sp>
        <p:nvSpPr>
          <p:cNvPr id="5" name="Text 2"/>
          <p:cNvSpPr/>
          <p:nvPr/>
        </p:nvSpPr>
        <p:spPr>
          <a:xfrm>
            <a:off x="4005262" y="6541651"/>
            <a:ext cx="514469" cy="226814"/>
          </a:xfrm>
          <a:prstGeom prst="rect">
            <a:avLst/>
          </a:prstGeom>
          <a:noFill/>
          <a:ln/>
        </p:spPr>
        <p:txBody>
          <a:bodyPr wrap="none" lIns="0" tIns="0" rIns="0" bIns="0" rtlCol="0" anchor="t"/>
          <a:lstStyle/>
          <a:p>
            <a:pPr marL="0" indent="0" algn="l">
              <a:lnSpc>
                <a:spcPts val="1750"/>
              </a:lnSpc>
              <a:buNone/>
            </a:pPr>
            <a:r>
              <a:rPr lang="en-US" sz="1750" dirty="0">
                <a:solidFill>
                  <a:srgbClr val="443728"/>
                </a:solidFill>
                <a:latin typeface="Open Sans" pitchFamily="34" charset="0"/>
                <a:ea typeface="Open Sans" pitchFamily="34" charset="-122"/>
                <a:cs typeface="Open Sans" pitchFamily="34" charset="-120"/>
              </a:rPr>
              <a:t>Male</a:t>
            </a:r>
            <a:endParaRPr lang="en-US" sz="1750" dirty="0"/>
          </a:p>
        </p:txBody>
      </p:sp>
      <p:sp>
        <p:nvSpPr>
          <p:cNvPr id="6" name="Shape 3"/>
          <p:cNvSpPr/>
          <p:nvPr/>
        </p:nvSpPr>
        <p:spPr>
          <a:xfrm>
            <a:off x="4672132" y="6541651"/>
            <a:ext cx="226814" cy="226814"/>
          </a:xfrm>
          <a:prstGeom prst="roundRect">
            <a:avLst>
              <a:gd name="adj" fmla="val 8063"/>
            </a:avLst>
          </a:prstGeom>
          <a:solidFill>
            <a:srgbClr val="9C7165"/>
          </a:solidFill>
          <a:ln/>
        </p:spPr>
      </p:sp>
      <p:sp>
        <p:nvSpPr>
          <p:cNvPr id="7" name="Text 4"/>
          <p:cNvSpPr/>
          <p:nvPr/>
        </p:nvSpPr>
        <p:spPr>
          <a:xfrm>
            <a:off x="4959906" y="6541651"/>
            <a:ext cx="764738" cy="226814"/>
          </a:xfrm>
          <a:prstGeom prst="rect">
            <a:avLst/>
          </a:prstGeom>
          <a:noFill/>
          <a:ln/>
        </p:spPr>
        <p:txBody>
          <a:bodyPr wrap="none" lIns="0" tIns="0" rIns="0" bIns="0" rtlCol="0" anchor="t"/>
          <a:lstStyle/>
          <a:p>
            <a:pPr marL="0" indent="0" algn="l">
              <a:lnSpc>
                <a:spcPts val="1750"/>
              </a:lnSpc>
              <a:buNone/>
            </a:pPr>
            <a:r>
              <a:rPr lang="en-US" sz="1750" dirty="0">
                <a:solidFill>
                  <a:srgbClr val="443728"/>
                </a:solidFill>
                <a:latin typeface="Open Sans" pitchFamily="34" charset="0"/>
                <a:ea typeface="Open Sans" pitchFamily="34" charset="-122"/>
                <a:cs typeface="Open Sans" pitchFamily="34" charset="-120"/>
              </a:rPr>
              <a:t>Female</a:t>
            </a:r>
            <a:endParaRPr lang="en-US" sz="1750" dirty="0"/>
          </a:p>
        </p:txBody>
      </p:sp>
      <p:sp>
        <p:nvSpPr>
          <p:cNvPr id="8" name="Text 5"/>
          <p:cNvSpPr/>
          <p:nvPr/>
        </p:nvSpPr>
        <p:spPr>
          <a:xfrm>
            <a:off x="8959096" y="2481739"/>
            <a:ext cx="3726775" cy="354330"/>
          </a:xfrm>
          <a:prstGeom prst="rect">
            <a:avLst/>
          </a:prstGeom>
          <a:noFill/>
          <a:ln/>
        </p:spPr>
        <p:txBody>
          <a:bodyPr wrap="none" lIns="0" tIns="0" rIns="0" bIns="0" rtlCol="0" anchor="t"/>
          <a:lstStyle/>
          <a:p>
            <a:pPr marL="0" indent="0" algn="l">
              <a:lnSpc>
                <a:spcPts val="2750"/>
              </a:lnSpc>
              <a:buNone/>
            </a:pPr>
            <a:r>
              <a:rPr lang="en-US" sz="2200" b="1" dirty="0">
                <a:solidFill>
                  <a:srgbClr val="443728"/>
                </a:solidFill>
                <a:latin typeface="Stylus BT" panose="020E0402020206020304" pitchFamily="34" charset="0"/>
                <a:ea typeface="Crimson Pro Bold" pitchFamily="34" charset="-122"/>
                <a:cs typeface="Crimson Pro Bold" pitchFamily="34" charset="-120"/>
              </a:rPr>
              <a:t>Male Customers Drive Revenue</a:t>
            </a:r>
            <a:endParaRPr lang="en-US" sz="2200" dirty="0">
              <a:latin typeface="Stylus BT" panose="020E0402020206020304" pitchFamily="34" charset="0"/>
            </a:endParaRPr>
          </a:p>
        </p:txBody>
      </p:sp>
      <p:sp>
        <p:nvSpPr>
          <p:cNvPr id="9" name="Text 6"/>
          <p:cNvSpPr/>
          <p:nvPr/>
        </p:nvSpPr>
        <p:spPr>
          <a:xfrm>
            <a:off x="8959096" y="3062883"/>
            <a:ext cx="4885015" cy="1088708"/>
          </a:xfrm>
          <a:prstGeom prst="rect">
            <a:avLst/>
          </a:prstGeom>
          <a:noFill/>
          <a:ln/>
        </p:spPr>
        <p:txBody>
          <a:bodyPr wrap="square" lIns="0" tIns="0" rIns="0" bIns="0" rtlCol="0" anchor="t"/>
          <a:lstStyle/>
          <a:p>
            <a:pPr marL="0" indent="0" algn="l">
              <a:lnSpc>
                <a:spcPts val="2850"/>
              </a:lnSpc>
              <a:buNone/>
            </a:pPr>
            <a:r>
              <a:rPr lang="en-US" sz="1750" dirty="0">
                <a:solidFill>
                  <a:srgbClr val="443728"/>
                </a:solidFill>
                <a:latin typeface="Open Sans" pitchFamily="34" charset="0"/>
                <a:ea typeface="Open Sans" pitchFamily="34" charset="-122"/>
                <a:cs typeface="Open Sans" pitchFamily="34" charset="-120"/>
              </a:rPr>
              <a:t>Male customers generated </a:t>
            </a:r>
            <a:r>
              <a:rPr lang="en-US" sz="1750" b="1" dirty="0">
                <a:solidFill>
                  <a:srgbClr val="443728"/>
                </a:solidFill>
                <a:latin typeface="Open Sans" pitchFamily="34" charset="0"/>
                <a:ea typeface="Open Sans" pitchFamily="34" charset="-122"/>
                <a:cs typeface="Open Sans" pitchFamily="34" charset="-120"/>
              </a:rPr>
              <a:t>$157,890</a:t>
            </a:r>
            <a:r>
              <a:rPr lang="en-US" sz="1750" dirty="0">
                <a:solidFill>
                  <a:srgbClr val="443728"/>
                </a:solidFill>
                <a:latin typeface="Open Sans" pitchFamily="34" charset="0"/>
                <a:ea typeface="Open Sans" pitchFamily="34" charset="-122"/>
                <a:cs typeface="Open Sans" pitchFamily="34" charset="-120"/>
              </a:rPr>
              <a:t> in total revenue compared to </a:t>
            </a:r>
            <a:r>
              <a:rPr lang="en-US" sz="1750" b="1" dirty="0">
                <a:solidFill>
                  <a:srgbClr val="443728"/>
                </a:solidFill>
                <a:latin typeface="Open Sans" pitchFamily="34" charset="0"/>
                <a:ea typeface="Open Sans" pitchFamily="34" charset="-122"/>
                <a:cs typeface="Open Sans" pitchFamily="34" charset="-120"/>
              </a:rPr>
              <a:t>$75,191</a:t>
            </a:r>
            <a:r>
              <a:rPr lang="en-US" sz="1750" dirty="0">
                <a:solidFill>
                  <a:srgbClr val="443728"/>
                </a:solidFill>
                <a:latin typeface="Open Sans" pitchFamily="34" charset="0"/>
                <a:ea typeface="Open Sans" pitchFamily="34" charset="-122"/>
                <a:cs typeface="Open Sans" pitchFamily="34" charset="-120"/>
              </a:rPr>
              <a:t> from female customers, representing 68% of total sales.</a:t>
            </a:r>
            <a:endParaRPr lang="en-US" sz="1750" dirty="0"/>
          </a:p>
        </p:txBody>
      </p:sp>
      <p:sp>
        <p:nvSpPr>
          <p:cNvPr id="10" name="Text 7"/>
          <p:cNvSpPr/>
          <p:nvPr/>
        </p:nvSpPr>
        <p:spPr>
          <a:xfrm>
            <a:off x="8959096" y="4355663"/>
            <a:ext cx="4885015" cy="1451610"/>
          </a:xfrm>
          <a:prstGeom prst="rect">
            <a:avLst/>
          </a:prstGeom>
          <a:noFill/>
          <a:ln/>
        </p:spPr>
        <p:txBody>
          <a:bodyPr wrap="square" lIns="0" tIns="0" rIns="0" bIns="0" rtlCol="0" anchor="t"/>
          <a:lstStyle/>
          <a:p>
            <a:pPr marL="0" indent="0" algn="l">
              <a:lnSpc>
                <a:spcPts val="2850"/>
              </a:lnSpc>
              <a:buNone/>
            </a:pPr>
            <a:r>
              <a:rPr lang="en-US" sz="1750" dirty="0">
                <a:solidFill>
                  <a:srgbClr val="443728"/>
                </a:solidFill>
                <a:latin typeface="Open Sans" pitchFamily="34" charset="0"/>
                <a:ea typeface="Open Sans" pitchFamily="34" charset="-122"/>
                <a:cs typeface="Open Sans" pitchFamily="34" charset="-120"/>
              </a:rPr>
              <a:t>This significant difference suggests opportunities for targeted marketing campaigns to increase female customer engagement.</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82241" y="615791"/>
            <a:ext cx="5587841" cy="698421"/>
          </a:xfrm>
          <a:prstGeom prst="rect">
            <a:avLst/>
          </a:prstGeom>
          <a:noFill/>
          <a:ln/>
        </p:spPr>
        <p:txBody>
          <a:bodyPr wrap="none" lIns="0" tIns="0" rIns="0" bIns="0" rtlCol="0" anchor="t"/>
          <a:lstStyle/>
          <a:p>
            <a:pPr marL="0" indent="0" algn="l">
              <a:lnSpc>
                <a:spcPts val="5450"/>
              </a:lnSpc>
              <a:buNone/>
            </a:pPr>
            <a:r>
              <a:rPr lang="en-US" sz="4350" b="1" dirty="0">
                <a:solidFill>
                  <a:srgbClr val="443728"/>
                </a:solidFill>
                <a:latin typeface="Stylus BT" panose="020E0402020206020304" pitchFamily="34" charset="0"/>
                <a:ea typeface="Crimson Pro Bold" pitchFamily="34" charset="-122"/>
                <a:cs typeface="Crimson Pro Bold" pitchFamily="34" charset="-120"/>
              </a:rPr>
              <a:t>Smart Discount Users</a:t>
            </a:r>
            <a:endParaRPr lang="en-US" sz="4350" dirty="0">
              <a:latin typeface="Stylus BT" panose="020E0402020206020304" pitchFamily="34" charset="0"/>
            </a:endParaRPr>
          </a:p>
        </p:txBody>
      </p:sp>
      <p:sp>
        <p:nvSpPr>
          <p:cNvPr id="3" name="Text 1"/>
          <p:cNvSpPr/>
          <p:nvPr/>
        </p:nvSpPr>
        <p:spPr>
          <a:xfrm>
            <a:off x="2604254" y="3213854"/>
            <a:ext cx="2749153" cy="558760"/>
          </a:xfrm>
          <a:prstGeom prst="rect">
            <a:avLst/>
          </a:prstGeom>
          <a:noFill/>
          <a:ln/>
        </p:spPr>
        <p:txBody>
          <a:bodyPr wrap="none" lIns="0" tIns="0" rIns="0" bIns="0" rtlCol="0" anchor="t"/>
          <a:lstStyle/>
          <a:p>
            <a:pPr marL="0" indent="0" algn="ctr">
              <a:lnSpc>
                <a:spcPts val="4350"/>
              </a:lnSpc>
              <a:buNone/>
            </a:pPr>
            <a:r>
              <a:rPr lang="en-US" sz="4350" b="1" dirty="0">
                <a:solidFill>
                  <a:srgbClr val="443728"/>
                </a:solidFill>
                <a:latin typeface="Crimson Pro Bold" pitchFamily="34" charset="0"/>
                <a:ea typeface="Crimson Pro Bold" pitchFamily="34" charset="-122"/>
                <a:cs typeface="Crimson Pro Bold" pitchFamily="34" charset="-120"/>
              </a:rPr>
              <a:t>839</a:t>
            </a:r>
            <a:endParaRPr lang="en-US" sz="4350" dirty="0"/>
          </a:p>
        </p:txBody>
      </p:sp>
      <p:pic>
        <p:nvPicPr>
          <p:cNvPr id="4" name="Image 0" descr="preencoded.png"/>
          <p:cNvPicPr>
            <a:picLocks noChangeAspect="1"/>
          </p:cNvPicPr>
          <p:nvPr/>
        </p:nvPicPr>
        <p:blipFill>
          <a:blip r:embed="rId3"/>
          <a:stretch>
            <a:fillRect/>
          </a:stretch>
        </p:blipFill>
        <p:spPr>
          <a:xfrm>
            <a:off x="2302550" y="1817013"/>
            <a:ext cx="3352681" cy="3352681"/>
          </a:xfrm>
          <a:prstGeom prst="rect">
            <a:avLst/>
          </a:prstGeom>
        </p:spPr>
      </p:pic>
      <p:sp>
        <p:nvSpPr>
          <p:cNvPr id="5" name="Text 2"/>
          <p:cNvSpPr/>
          <p:nvPr/>
        </p:nvSpPr>
        <p:spPr>
          <a:xfrm>
            <a:off x="2161937" y="5449014"/>
            <a:ext cx="3633907" cy="349210"/>
          </a:xfrm>
          <a:prstGeom prst="rect">
            <a:avLst/>
          </a:prstGeom>
          <a:noFill/>
          <a:ln/>
        </p:spPr>
        <p:txBody>
          <a:bodyPr wrap="none" lIns="0" tIns="0" rIns="0" bIns="0" rtlCol="0" anchor="t"/>
          <a:lstStyle/>
          <a:p>
            <a:pPr marL="0" indent="0" algn="ctr">
              <a:lnSpc>
                <a:spcPts val="2700"/>
              </a:lnSpc>
              <a:buNone/>
            </a:pPr>
            <a:r>
              <a:rPr lang="en-US" sz="2150" b="1" dirty="0">
                <a:solidFill>
                  <a:srgbClr val="443728"/>
                </a:solidFill>
                <a:latin typeface="Stylus BT" panose="020E0402020206020304" pitchFamily="34" charset="0"/>
                <a:ea typeface="Crimson Pro Bold" pitchFamily="34" charset="-122"/>
                <a:cs typeface="Crimson Pro Bold" pitchFamily="34" charset="-120"/>
              </a:rPr>
              <a:t>High-Spending Discount Users</a:t>
            </a:r>
            <a:endParaRPr lang="en-US" sz="2150" dirty="0">
              <a:latin typeface="Stylus BT" panose="020E0402020206020304" pitchFamily="34" charset="0"/>
            </a:endParaRPr>
          </a:p>
        </p:txBody>
      </p:sp>
      <p:sp>
        <p:nvSpPr>
          <p:cNvPr id="6" name="Text 3"/>
          <p:cNvSpPr/>
          <p:nvPr/>
        </p:nvSpPr>
        <p:spPr>
          <a:xfrm>
            <a:off x="782241" y="5932289"/>
            <a:ext cx="6393299" cy="715089"/>
          </a:xfrm>
          <a:prstGeom prst="rect">
            <a:avLst/>
          </a:prstGeom>
          <a:noFill/>
          <a:ln/>
        </p:spPr>
        <p:txBody>
          <a:bodyPr wrap="square" lIns="0" tIns="0" rIns="0" bIns="0" rtlCol="0" anchor="t"/>
          <a:lstStyle/>
          <a:p>
            <a:pPr marL="0" indent="0" algn="ctr">
              <a:lnSpc>
                <a:spcPts val="2800"/>
              </a:lnSpc>
              <a:buNone/>
            </a:pPr>
            <a:r>
              <a:rPr lang="en-US" sz="1750" dirty="0">
                <a:solidFill>
                  <a:srgbClr val="443728"/>
                </a:solidFill>
                <a:latin typeface="Open Sans" pitchFamily="34" charset="0"/>
                <a:ea typeface="Open Sans" pitchFamily="34" charset="-122"/>
                <a:cs typeface="Open Sans" pitchFamily="34" charset="-120"/>
              </a:rPr>
              <a:t>Customers who used discounts but still spent above average purchase amount</a:t>
            </a:r>
            <a:endParaRPr lang="en-US" sz="1750" dirty="0"/>
          </a:p>
        </p:txBody>
      </p:sp>
      <p:sp>
        <p:nvSpPr>
          <p:cNvPr id="7" name="Text 4"/>
          <p:cNvSpPr/>
          <p:nvPr/>
        </p:nvSpPr>
        <p:spPr>
          <a:xfrm>
            <a:off x="9276874" y="3213854"/>
            <a:ext cx="2749153" cy="558760"/>
          </a:xfrm>
          <a:prstGeom prst="rect">
            <a:avLst/>
          </a:prstGeom>
          <a:noFill/>
          <a:ln/>
        </p:spPr>
        <p:txBody>
          <a:bodyPr wrap="none" lIns="0" tIns="0" rIns="0" bIns="0" rtlCol="0" anchor="t"/>
          <a:lstStyle/>
          <a:p>
            <a:pPr marL="0" indent="0" algn="ctr">
              <a:lnSpc>
                <a:spcPts val="4350"/>
              </a:lnSpc>
              <a:buNone/>
            </a:pPr>
            <a:r>
              <a:rPr lang="en-US" sz="4350" b="1" dirty="0">
                <a:solidFill>
                  <a:srgbClr val="443728"/>
                </a:solidFill>
                <a:latin typeface="Crimson Pro Bold" pitchFamily="34" charset="0"/>
                <a:ea typeface="Crimson Pro Bold" pitchFamily="34" charset="-122"/>
                <a:cs typeface="Crimson Pro Bold" pitchFamily="34" charset="-120"/>
              </a:rPr>
              <a:t>21.5%</a:t>
            </a:r>
            <a:endParaRPr lang="en-US" sz="4350" dirty="0"/>
          </a:p>
        </p:txBody>
      </p:sp>
      <p:pic>
        <p:nvPicPr>
          <p:cNvPr id="8" name="Image 1" descr="preencoded.png"/>
          <p:cNvPicPr>
            <a:picLocks noChangeAspect="1"/>
          </p:cNvPicPr>
          <p:nvPr/>
        </p:nvPicPr>
        <p:blipFill>
          <a:blip r:embed="rId4"/>
          <a:stretch>
            <a:fillRect/>
          </a:stretch>
        </p:blipFill>
        <p:spPr>
          <a:xfrm>
            <a:off x="8975169" y="1817013"/>
            <a:ext cx="3352681" cy="3352681"/>
          </a:xfrm>
          <a:prstGeom prst="rect">
            <a:avLst/>
          </a:prstGeom>
        </p:spPr>
      </p:pic>
      <p:sp>
        <p:nvSpPr>
          <p:cNvPr id="9" name="Text 5"/>
          <p:cNvSpPr/>
          <p:nvPr/>
        </p:nvSpPr>
        <p:spPr>
          <a:xfrm>
            <a:off x="9254490" y="5449014"/>
            <a:ext cx="2793921" cy="349210"/>
          </a:xfrm>
          <a:prstGeom prst="rect">
            <a:avLst/>
          </a:prstGeom>
          <a:noFill/>
          <a:ln/>
        </p:spPr>
        <p:txBody>
          <a:bodyPr wrap="none" lIns="0" tIns="0" rIns="0" bIns="0" rtlCol="0" anchor="t"/>
          <a:lstStyle/>
          <a:p>
            <a:pPr marL="0" indent="0" algn="ctr">
              <a:lnSpc>
                <a:spcPts val="2700"/>
              </a:lnSpc>
              <a:buNone/>
            </a:pPr>
            <a:r>
              <a:rPr lang="en-US" sz="2150" b="1" dirty="0">
                <a:solidFill>
                  <a:srgbClr val="443728"/>
                </a:solidFill>
                <a:latin typeface="Stylus BT" panose="020E0402020206020304" pitchFamily="34" charset="0"/>
                <a:ea typeface="Crimson Pro Bold" pitchFamily="34" charset="-122"/>
                <a:cs typeface="Crimson Pro Bold" pitchFamily="34" charset="-120"/>
              </a:rPr>
              <a:t>Percentage of Total</a:t>
            </a:r>
            <a:endParaRPr lang="en-US" sz="2150" dirty="0">
              <a:latin typeface="Stylus BT" panose="020E0402020206020304" pitchFamily="34" charset="0"/>
            </a:endParaRPr>
          </a:p>
        </p:txBody>
      </p:sp>
      <p:sp>
        <p:nvSpPr>
          <p:cNvPr id="10" name="Text 6"/>
          <p:cNvSpPr/>
          <p:nvPr/>
        </p:nvSpPr>
        <p:spPr>
          <a:xfrm>
            <a:off x="7454860" y="5932289"/>
            <a:ext cx="6393299" cy="357545"/>
          </a:xfrm>
          <a:prstGeom prst="rect">
            <a:avLst/>
          </a:prstGeom>
          <a:noFill/>
          <a:ln/>
        </p:spPr>
        <p:txBody>
          <a:bodyPr wrap="none" lIns="0" tIns="0" rIns="0" bIns="0" rtlCol="0" anchor="t"/>
          <a:lstStyle/>
          <a:p>
            <a:pPr marL="0" indent="0" algn="ctr">
              <a:lnSpc>
                <a:spcPts val="2800"/>
              </a:lnSpc>
              <a:buNone/>
            </a:pPr>
            <a:r>
              <a:rPr lang="en-US" sz="1750" dirty="0">
                <a:solidFill>
                  <a:srgbClr val="443728"/>
                </a:solidFill>
                <a:latin typeface="Open Sans" pitchFamily="34" charset="0"/>
                <a:ea typeface="Open Sans" pitchFamily="34" charset="-122"/>
                <a:cs typeface="Open Sans" pitchFamily="34" charset="-120"/>
              </a:rPr>
              <a:t>Represents savvy shoppers who maximize value</a:t>
            </a:r>
            <a:endParaRPr lang="en-US" sz="1750" dirty="0"/>
          </a:p>
        </p:txBody>
      </p:sp>
      <p:sp>
        <p:nvSpPr>
          <p:cNvPr id="11" name="Text 7"/>
          <p:cNvSpPr/>
          <p:nvPr/>
        </p:nvSpPr>
        <p:spPr>
          <a:xfrm>
            <a:off x="782241" y="6898719"/>
            <a:ext cx="13065919" cy="715089"/>
          </a:xfrm>
          <a:prstGeom prst="rect">
            <a:avLst/>
          </a:prstGeom>
          <a:noFill/>
          <a:ln/>
        </p:spPr>
        <p:txBody>
          <a:bodyPr wrap="square" lIns="0" tIns="0" rIns="0" bIns="0" rtlCol="0" anchor="t"/>
          <a:lstStyle/>
          <a:p>
            <a:pPr marL="0" indent="0" algn="l">
              <a:lnSpc>
                <a:spcPts val="2800"/>
              </a:lnSpc>
              <a:buNone/>
            </a:pPr>
            <a:r>
              <a:rPr lang="en-US" sz="1750" dirty="0">
                <a:solidFill>
                  <a:srgbClr val="443728"/>
                </a:solidFill>
                <a:latin typeface="Open Sans" pitchFamily="34" charset="0"/>
                <a:ea typeface="Open Sans" pitchFamily="34" charset="-122"/>
                <a:cs typeface="Open Sans" pitchFamily="34" charset="-120"/>
              </a:rPr>
              <a:t>These customers demonstrate that discounts don't always mean lower revenue—they can attract quality-conscious buyers who spend more overall. Strategic discount placement on premium items could boost both volume and margins.</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39735" y="592812"/>
            <a:ext cx="7664529" cy="1320879"/>
          </a:xfrm>
          <a:prstGeom prst="rect">
            <a:avLst/>
          </a:prstGeom>
          <a:noFill/>
          <a:ln/>
        </p:spPr>
        <p:txBody>
          <a:bodyPr wrap="square" lIns="0" tIns="0" rIns="0" bIns="0" rtlCol="0" anchor="t"/>
          <a:lstStyle/>
          <a:p>
            <a:pPr marL="0" indent="0" algn="l">
              <a:lnSpc>
                <a:spcPts val="5200"/>
              </a:lnSpc>
              <a:buNone/>
            </a:pPr>
            <a:r>
              <a:rPr lang="en-US" sz="4150" b="1" dirty="0">
                <a:solidFill>
                  <a:srgbClr val="443728"/>
                </a:solidFill>
                <a:latin typeface="Stylus BT" panose="020E0402020206020304" pitchFamily="34" charset="0"/>
                <a:ea typeface="Crimson Pro Bold" pitchFamily="34" charset="-122"/>
                <a:cs typeface="Crimson Pro Bold" pitchFamily="34" charset="-120"/>
              </a:rPr>
              <a:t>Top-Rated Products &amp; Shipping Preferences</a:t>
            </a:r>
            <a:endParaRPr lang="en-US" sz="4150" b="1" dirty="0">
              <a:latin typeface="Stylus BT" panose="020E0402020206020304" pitchFamily="34" charset="0"/>
            </a:endParaRPr>
          </a:p>
        </p:txBody>
      </p:sp>
      <p:sp>
        <p:nvSpPr>
          <p:cNvPr id="4" name="Text 1"/>
          <p:cNvSpPr/>
          <p:nvPr/>
        </p:nvSpPr>
        <p:spPr>
          <a:xfrm>
            <a:off x="739735" y="2441972"/>
            <a:ext cx="2660213" cy="330160"/>
          </a:xfrm>
          <a:prstGeom prst="rect">
            <a:avLst/>
          </a:prstGeom>
          <a:noFill/>
          <a:ln/>
        </p:spPr>
        <p:txBody>
          <a:bodyPr wrap="none" lIns="0" tIns="0" rIns="0" bIns="0" rtlCol="0" anchor="t"/>
          <a:lstStyle/>
          <a:p>
            <a:pPr marL="0" indent="0" algn="l">
              <a:lnSpc>
                <a:spcPts val="2600"/>
              </a:lnSpc>
              <a:buNone/>
            </a:pPr>
            <a:r>
              <a:rPr lang="en-US" sz="2050" b="1" dirty="0">
                <a:solidFill>
                  <a:srgbClr val="443728"/>
                </a:solidFill>
                <a:latin typeface="Stylus BT" panose="020E0402020206020304" pitchFamily="34" charset="0"/>
                <a:ea typeface="Crimson Pro Bold" pitchFamily="34" charset="-122"/>
                <a:cs typeface="Crimson Pro Bold" pitchFamily="34" charset="-120"/>
              </a:rPr>
              <a:t>Highest-Rated Products</a:t>
            </a:r>
            <a:endParaRPr lang="en-US" sz="2050" b="1" dirty="0">
              <a:latin typeface="Stylus BT" panose="020E0402020206020304" pitchFamily="34" charset="0"/>
            </a:endParaRPr>
          </a:p>
        </p:txBody>
      </p:sp>
      <p:sp>
        <p:nvSpPr>
          <p:cNvPr id="5" name="Text 2"/>
          <p:cNvSpPr/>
          <p:nvPr/>
        </p:nvSpPr>
        <p:spPr>
          <a:xfrm>
            <a:off x="739735" y="2983468"/>
            <a:ext cx="3574494" cy="338138"/>
          </a:xfrm>
          <a:prstGeom prst="rect">
            <a:avLst/>
          </a:prstGeom>
          <a:noFill/>
          <a:ln/>
        </p:spPr>
        <p:txBody>
          <a:bodyPr wrap="none" lIns="0" tIns="0" rIns="0" bIns="0" rtlCol="0" anchor="t"/>
          <a:lstStyle/>
          <a:p>
            <a:pPr marL="342900" indent="-342900" algn="l">
              <a:lnSpc>
                <a:spcPts val="2650"/>
              </a:lnSpc>
              <a:buSzPct val="100000"/>
              <a:buFont typeface="+mj-lt"/>
              <a:buAutoNum type="arabicPeriod"/>
            </a:pPr>
            <a:r>
              <a:rPr lang="en-US" sz="1650" b="1" dirty="0">
                <a:solidFill>
                  <a:srgbClr val="443728"/>
                </a:solidFill>
                <a:latin typeface="Open Sans" pitchFamily="34" charset="0"/>
                <a:ea typeface="Open Sans" pitchFamily="34" charset="-122"/>
                <a:cs typeface="Open Sans" pitchFamily="34" charset="-120"/>
              </a:rPr>
              <a:t>Gloves</a:t>
            </a:r>
            <a:r>
              <a:rPr lang="en-US" sz="1650" dirty="0">
                <a:solidFill>
                  <a:srgbClr val="443728"/>
                </a:solidFill>
                <a:latin typeface="Open Sans" pitchFamily="34" charset="0"/>
                <a:ea typeface="Open Sans" pitchFamily="34" charset="-122"/>
                <a:cs typeface="Open Sans" pitchFamily="34" charset="-120"/>
              </a:rPr>
              <a:t> - 3.86 rating</a:t>
            </a:r>
            <a:endParaRPr lang="en-US" sz="1650" dirty="0"/>
          </a:p>
        </p:txBody>
      </p:sp>
      <p:sp>
        <p:nvSpPr>
          <p:cNvPr id="6" name="Text 3"/>
          <p:cNvSpPr/>
          <p:nvPr/>
        </p:nvSpPr>
        <p:spPr>
          <a:xfrm>
            <a:off x="739735" y="3395543"/>
            <a:ext cx="3574494" cy="338138"/>
          </a:xfrm>
          <a:prstGeom prst="rect">
            <a:avLst/>
          </a:prstGeom>
          <a:noFill/>
          <a:ln/>
        </p:spPr>
        <p:txBody>
          <a:bodyPr wrap="none" lIns="0" tIns="0" rIns="0" bIns="0" rtlCol="0" anchor="t"/>
          <a:lstStyle/>
          <a:p>
            <a:pPr marL="342900" indent="-342900" algn="l">
              <a:lnSpc>
                <a:spcPts val="2650"/>
              </a:lnSpc>
              <a:buSzPct val="100000"/>
              <a:buFont typeface="+mj-lt"/>
              <a:buAutoNum type="arabicPeriod" startAt="2"/>
            </a:pPr>
            <a:r>
              <a:rPr lang="en-US" sz="1650" b="1" dirty="0">
                <a:solidFill>
                  <a:srgbClr val="443728"/>
                </a:solidFill>
                <a:latin typeface="Open Sans" pitchFamily="34" charset="0"/>
                <a:ea typeface="Open Sans" pitchFamily="34" charset="-122"/>
                <a:cs typeface="Open Sans" pitchFamily="34" charset="-120"/>
              </a:rPr>
              <a:t>Sandals</a:t>
            </a:r>
            <a:r>
              <a:rPr lang="en-US" sz="1650" dirty="0">
                <a:solidFill>
                  <a:srgbClr val="443728"/>
                </a:solidFill>
                <a:latin typeface="Open Sans" pitchFamily="34" charset="0"/>
                <a:ea typeface="Open Sans" pitchFamily="34" charset="-122"/>
                <a:cs typeface="Open Sans" pitchFamily="34" charset="-120"/>
              </a:rPr>
              <a:t> - 3.84 rating</a:t>
            </a:r>
            <a:endParaRPr lang="en-US" sz="1650" dirty="0"/>
          </a:p>
        </p:txBody>
      </p:sp>
      <p:sp>
        <p:nvSpPr>
          <p:cNvPr id="7" name="Text 4"/>
          <p:cNvSpPr/>
          <p:nvPr/>
        </p:nvSpPr>
        <p:spPr>
          <a:xfrm>
            <a:off x="739735" y="3807619"/>
            <a:ext cx="3574494" cy="338138"/>
          </a:xfrm>
          <a:prstGeom prst="rect">
            <a:avLst/>
          </a:prstGeom>
          <a:noFill/>
          <a:ln/>
        </p:spPr>
        <p:txBody>
          <a:bodyPr wrap="none" lIns="0" tIns="0" rIns="0" bIns="0" rtlCol="0" anchor="t"/>
          <a:lstStyle/>
          <a:p>
            <a:pPr marL="342900" indent="-342900" algn="l">
              <a:lnSpc>
                <a:spcPts val="2650"/>
              </a:lnSpc>
              <a:buSzPct val="100000"/>
              <a:buFont typeface="+mj-lt"/>
              <a:buAutoNum type="arabicPeriod" startAt="3"/>
            </a:pPr>
            <a:r>
              <a:rPr lang="en-US" sz="1650" b="1" dirty="0">
                <a:solidFill>
                  <a:srgbClr val="443728"/>
                </a:solidFill>
                <a:latin typeface="Open Sans" pitchFamily="34" charset="0"/>
                <a:ea typeface="Open Sans" pitchFamily="34" charset="-122"/>
                <a:cs typeface="Open Sans" pitchFamily="34" charset="-120"/>
              </a:rPr>
              <a:t>Boots</a:t>
            </a:r>
            <a:r>
              <a:rPr lang="en-US" sz="1650" dirty="0">
                <a:solidFill>
                  <a:srgbClr val="443728"/>
                </a:solidFill>
                <a:latin typeface="Open Sans" pitchFamily="34" charset="0"/>
                <a:ea typeface="Open Sans" pitchFamily="34" charset="-122"/>
                <a:cs typeface="Open Sans" pitchFamily="34" charset="-120"/>
              </a:rPr>
              <a:t> - 3.82 rating</a:t>
            </a:r>
            <a:endParaRPr lang="en-US" sz="1650" dirty="0"/>
          </a:p>
        </p:txBody>
      </p:sp>
      <p:sp>
        <p:nvSpPr>
          <p:cNvPr id="8" name="Text 5"/>
          <p:cNvSpPr/>
          <p:nvPr/>
        </p:nvSpPr>
        <p:spPr>
          <a:xfrm>
            <a:off x="739735" y="4219694"/>
            <a:ext cx="3574494" cy="338138"/>
          </a:xfrm>
          <a:prstGeom prst="rect">
            <a:avLst/>
          </a:prstGeom>
          <a:noFill/>
          <a:ln/>
        </p:spPr>
        <p:txBody>
          <a:bodyPr wrap="none" lIns="0" tIns="0" rIns="0" bIns="0" rtlCol="0" anchor="t"/>
          <a:lstStyle/>
          <a:p>
            <a:pPr marL="342900" indent="-342900" algn="l">
              <a:lnSpc>
                <a:spcPts val="2650"/>
              </a:lnSpc>
              <a:buSzPct val="100000"/>
              <a:buFont typeface="+mj-lt"/>
              <a:buAutoNum type="arabicPeriod" startAt="4"/>
            </a:pPr>
            <a:r>
              <a:rPr lang="en-US" sz="1650" b="1" dirty="0">
                <a:solidFill>
                  <a:srgbClr val="443728"/>
                </a:solidFill>
                <a:latin typeface="Open Sans" pitchFamily="34" charset="0"/>
                <a:ea typeface="Open Sans" pitchFamily="34" charset="-122"/>
                <a:cs typeface="Open Sans" pitchFamily="34" charset="-120"/>
              </a:rPr>
              <a:t>Hat</a:t>
            </a:r>
            <a:r>
              <a:rPr lang="en-US" sz="1650" dirty="0">
                <a:solidFill>
                  <a:srgbClr val="443728"/>
                </a:solidFill>
                <a:latin typeface="Open Sans" pitchFamily="34" charset="0"/>
                <a:ea typeface="Open Sans" pitchFamily="34" charset="-122"/>
                <a:cs typeface="Open Sans" pitchFamily="34" charset="-120"/>
              </a:rPr>
              <a:t> - 3.80 rating</a:t>
            </a:r>
            <a:endParaRPr lang="en-US" sz="1650" dirty="0"/>
          </a:p>
        </p:txBody>
      </p:sp>
      <p:sp>
        <p:nvSpPr>
          <p:cNvPr id="9" name="Text 6"/>
          <p:cNvSpPr/>
          <p:nvPr/>
        </p:nvSpPr>
        <p:spPr>
          <a:xfrm>
            <a:off x="739735" y="4631769"/>
            <a:ext cx="3574494" cy="338138"/>
          </a:xfrm>
          <a:prstGeom prst="rect">
            <a:avLst/>
          </a:prstGeom>
          <a:noFill/>
          <a:ln/>
        </p:spPr>
        <p:txBody>
          <a:bodyPr wrap="none" lIns="0" tIns="0" rIns="0" bIns="0" rtlCol="0" anchor="t"/>
          <a:lstStyle/>
          <a:p>
            <a:pPr marL="342900" indent="-342900" algn="l">
              <a:lnSpc>
                <a:spcPts val="2650"/>
              </a:lnSpc>
              <a:buSzPct val="100000"/>
              <a:buFont typeface="+mj-lt"/>
              <a:buAutoNum type="arabicPeriod" startAt="5"/>
            </a:pPr>
            <a:r>
              <a:rPr lang="en-US" sz="1650" b="1" dirty="0">
                <a:solidFill>
                  <a:srgbClr val="443728"/>
                </a:solidFill>
                <a:latin typeface="Open Sans" pitchFamily="34" charset="0"/>
                <a:ea typeface="Open Sans" pitchFamily="34" charset="-122"/>
                <a:cs typeface="Open Sans" pitchFamily="34" charset="-120"/>
              </a:rPr>
              <a:t>Skirt</a:t>
            </a:r>
            <a:r>
              <a:rPr lang="en-US" sz="1650" dirty="0">
                <a:solidFill>
                  <a:srgbClr val="443728"/>
                </a:solidFill>
                <a:latin typeface="Open Sans" pitchFamily="34" charset="0"/>
                <a:ea typeface="Open Sans" pitchFamily="34" charset="-122"/>
                <a:cs typeface="Open Sans" pitchFamily="34" charset="-120"/>
              </a:rPr>
              <a:t> - 3.78 rating</a:t>
            </a:r>
            <a:endParaRPr lang="en-US" sz="1650" dirty="0"/>
          </a:p>
        </p:txBody>
      </p:sp>
      <p:sp>
        <p:nvSpPr>
          <p:cNvPr id="10" name="Text 7"/>
          <p:cNvSpPr/>
          <p:nvPr/>
        </p:nvSpPr>
        <p:spPr>
          <a:xfrm>
            <a:off x="739735" y="5160050"/>
            <a:ext cx="3574494" cy="1014413"/>
          </a:xfrm>
          <a:prstGeom prst="rect">
            <a:avLst/>
          </a:prstGeom>
          <a:noFill/>
          <a:ln/>
        </p:spPr>
        <p:txBody>
          <a:bodyPr wrap="square" lIns="0" tIns="0" rIns="0" bIns="0" rtlCol="0" anchor="t"/>
          <a:lstStyle/>
          <a:p>
            <a:pPr marL="0" indent="0" algn="l">
              <a:lnSpc>
                <a:spcPts val="2650"/>
              </a:lnSpc>
              <a:buNone/>
            </a:pPr>
            <a:r>
              <a:rPr lang="en-US" sz="1650" dirty="0">
                <a:solidFill>
                  <a:srgbClr val="443728"/>
                </a:solidFill>
                <a:latin typeface="Open Sans" pitchFamily="34" charset="0"/>
                <a:ea typeface="Open Sans" pitchFamily="34" charset="-122"/>
                <a:cs typeface="Open Sans" pitchFamily="34" charset="-120"/>
              </a:rPr>
              <a:t>Feature these products prominently in marketing campaigns to leverage positive customer sentiment.</a:t>
            </a:r>
            <a:endParaRPr lang="en-US" sz="1650" dirty="0"/>
          </a:p>
        </p:txBody>
      </p:sp>
      <p:sp>
        <p:nvSpPr>
          <p:cNvPr id="11" name="Text 8"/>
          <p:cNvSpPr/>
          <p:nvPr/>
        </p:nvSpPr>
        <p:spPr>
          <a:xfrm>
            <a:off x="4837390" y="2441972"/>
            <a:ext cx="2641997" cy="330160"/>
          </a:xfrm>
          <a:prstGeom prst="rect">
            <a:avLst/>
          </a:prstGeom>
          <a:noFill/>
          <a:ln/>
        </p:spPr>
        <p:txBody>
          <a:bodyPr wrap="none" lIns="0" tIns="0" rIns="0" bIns="0" rtlCol="0" anchor="t"/>
          <a:lstStyle/>
          <a:p>
            <a:pPr marL="0" indent="0" algn="l">
              <a:lnSpc>
                <a:spcPts val="2600"/>
              </a:lnSpc>
              <a:buNone/>
            </a:pPr>
            <a:r>
              <a:rPr lang="en-US" sz="2050" b="1" dirty="0">
                <a:solidFill>
                  <a:srgbClr val="443728"/>
                </a:solidFill>
                <a:latin typeface="Stylus BT" panose="020E0402020206020304" pitchFamily="34" charset="0"/>
                <a:ea typeface="Crimson Pro Bold" pitchFamily="34" charset="-122"/>
                <a:cs typeface="Crimson Pro Bold" pitchFamily="34" charset="-120"/>
              </a:rPr>
              <a:t>Shipping Type Analysis</a:t>
            </a:r>
            <a:endParaRPr lang="en-US" sz="2050" b="1" dirty="0">
              <a:latin typeface="Stylus BT" panose="020E0402020206020304" pitchFamily="34" charset="0"/>
            </a:endParaRPr>
          </a:p>
        </p:txBody>
      </p:sp>
      <p:sp>
        <p:nvSpPr>
          <p:cNvPr id="12" name="Shape 9"/>
          <p:cNvSpPr/>
          <p:nvPr/>
        </p:nvSpPr>
        <p:spPr>
          <a:xfrm>
            <a:off x="4837390" y="3009900"/>
            <a:ext cx="3574494" cy="1317546"/>
          </a:xfrm>
          <a:prstGeom prst="roundRect">
            <a:avLst>
              <a:gd name="adj" fmla="val 6738"/>
            </a:avLst>
          </a:prstGeom>
          <a:solidFill>
            <a:srgbClr val="EBE2E0"/>
          </a:solidFill>
          <a:ln w="7620">
            <a:solidFill>
              <a:srgbClr val="D1C8C6"/>
            </a:solidFill>
            <a:prstDash val="solid"/>
          </a:ln>
        </p:spPr>
      </p:sp>
      <p:sp>
        <p:nvSpPr>
          <p:cNvPr id="13" name="Text 10"/>
          <p:cNvSpPr/>
          <p:nvPr/>
        </p:nvSpPr>
        <p:spPr>
          <a:xfrm>
            <a:off x="5056346" y="3228856"/>
            <a:ext cx="2641997" cy="330160"/>
          </a:xfrm>
          <a:prstGeom prst="rect">
            <a:avLst/>
          </a:prstGeom>
          <a:noFill/>
          <a:ln/>
        </p:spPr>
        <p:txBody>
          <a:bodyPr wrap="none" lIns="0" tIns="0" rIns="0" bIns="0" rtlCol="0" anchor="t"/>
          <a:lstStyle/>
          <a:p>
            <a:pPr marL="0" indent="0" algn="l">
              <a:lnSpc>
                <a:spcPts val="2600"/>
              </a:lnSpc>
              <a:buNone/>
            </a:pPr>
            <a:r>
              <a:rPr lang="en-US" sz="2050" b="1" dirty="0">
                <a:solidFill>
                  <a:srgbClr val="443728"/>
                </a:solidFill>
                <a:latin typeface="Stylus BT" panose="020E0402020206020304" pitchFamily="34" charset="0"/>
                <a:ea typeface="Crimson Pro Bold" pitchFamily="34" charset="-122"/>
                <a:cs typeface="Crimson Pro Bold" pitchFamily="34" charset="-120"/>
              </a:rPr>
              <a:t>Standard</a:t>
            </a:r>
            <a:endParaRPr lang="en-US" sz="2050" b="1" dirty="0">
              <a:latin typeface="Stylus BT" panose="020E0402020206020304" pitchFamily="34" charset="0"/>
            </a:endParaRPr>
          </a:p>
        </p:txBody>
      </p:sp>
      <p:sp>
        <p:nvSpPr>
          <p:cNvPr id="14" name="Text 11"/>
          <p:cNvSpPr/>
          <p:nvPr/>
        </p:nvSpPr>
        <p:spPr>
          <a:xfrm>
            <a:off x="5056346" y="3770352"/>
            <a:ext cx="3136583" cy="338138"/>
          </a:xfrm>
          <a:prstGeom prst="rect">
            <a:avLst/>
          </a:prstGeom>
          <a:noFill/>
          <a:ln/>
        </p:spPr>
        <p:txBody>
          <a:bodyPr wrap="none" lIns="0" tIns="0" rIns="0" bIns="0" rtlCol="0" anchor="t"/>
          <a:lstStyle/>
          <a:p>
            <a:pPr marL="0" indent="0" algn="l">
              <a:lnSpc>
                <a:spcPts val="2650"/>
              </a:lnSpc>
              <a:buNone/>
            </a:pPr>
            <a:r>
              <a:rPr lang="en-US" sz="1650" dirty="0">
                <a:solidFill>
                  <a:srgbClr val="443728"/>
                </a:solidFill>
                <a:latin typeface="Open Sans" pitchFamily="34" charset="0"/>
                <a:ea typeface="Open Sans" pitchFamily="34" charset="-122"/>
                <a:cs typeface="Open Sans" pitchFamily="34" charset="-120"/>
              </a:rPr>
              <a:t>$58.46 avg spend</a:t>
            </a:r>
            <a:endParaRPr lang="en-US" sz="1650" dirty="0"/>
          </a:p>
        </p:txBody>
      </p:sp>
      <p:sp>
        <p:nvSpPr>
          <p:cNvPr id="15" name="Shape 12"/>
          <p:cNvSpPr/>
          <p:nvPr/>
        </p:nvSpPr>
        <p:spPr>
          <a:xfrm>
            <a:off x="4837390" y="4538782"/>
            <a:ext cx="3574494" cy="1317546"/>
          </a:xfrm>
          <a:prstGeom prst="roundRect">
            <a:avLst>
              <a:gd name="adj" fmla="val 6738"/>
            </a:avLst>
          </a:prstGeom>
          <a:solidFill>
            <a:srgbClr val="EBE2E0"/>
          </a:solidFill>
          <a:ln w="7620">
            <a:solidFill>
              <a:srgbClr val="D1C8C6"/>
            </a:solidFill>
            <a:prstDash val="solid"/>
          </a:ln>
        </p:spPr>
      </p:sp>
      <p:sp>
        <p:nvSpPr>
          <p:cNvPr id="16" name="Text 13"/>
          <p:cNvSpPr/>
          <p:nvPr/>
        </p:nvSpPr>
        <p:spPr>
          <a:xfrm>
            <a:off x="5056346" y="4757738"/>
            <a:ext cx="2641997" cy="330160"/>
          </a:xfrm>
          <a:prstGeom prst="rect">
            <a:avLst/>
          </a:prstGeom>
          <a:noFill/>
          <a:ln/>
        </p:spPr>
        <p:txBody>
          <a:bodyPr wrap="none" lIns="0" tIns="0" rIns="0" bIns="0" rtlCol="0" anchor="t"/>
          <a:lstStyle/>
          <a:p>
            <a:pPr marL="0" indent="0" algn="l">
              <a:lnSpc>
                <a:spcPts val="2600"/>
              </a:lnSpc>
              <a:buNone/>
            </a:pPr>
            <a:r>
              <a:rPr lang="en-US" sz="2050" b="1" dirty="0">
                <a:solidFill>
                  <a:srgbClr val="443728"/>
                </a:solidFill>
                <a:latin typeface="Stylus BT" panose="020E0402020206020304" pitchFamily="34" charset="0"/>
                <a:ea typeface="Crimson Pro Bold" pitchFamily="34" charset="-122"/>
                <a:cs typeface="Crimson Pro Bold" pitchFamily="34" charset="-120"/>
              </a:rPr>
              <a:t>Express</a:t>
            </a:r>
            <a:endParaRPr lang="en-US" sz="2050" b="1" dirty="0">
              <a:latin typeface="Stylus BT" panose="020E0402020206020304" pitchFamily="34" charset="0"/>
            </a:endParaRPr>
          </a:p>
        </p:txBody>
      </p:sp>
      <p:sp>
        <p:nvSpPr>
          <p:cNvPr id="17" name="Text 14"/>
          <p:cNvSpPr/>
          <p:nvPr/>
        </p:nvSpPr>
        <p:spPr>
          <a:xfrm>
            <a:off x="5056346" y="5299234"/>
            <a:ext cx="3136583" cy="338138"/>
          </a:xfrm>
          <a:prstGeom prst="rect">
            <a:avLst/>
          </a:prstGeom>
          <a:noFill/>
          <a:ln/>
        </p:spPr>
        <p:txBody>
          <a:bodyPr wrap="none" lIns="0" tIns="0" rIns="0" bIns="0" rtlCol="0" anchor="t"/>
          <a:lstStyle/>
          <a:p>
            <a:pPr marL="0" indent="0" algn="l">
              <a:lnSpc>
                <a:spcPts val="2650"/>
              </a:lnSpc>
              <a:buNone/>
            </a:pPr>
            <a:r>
              <a:rPr lang="en-US" sz="1650" dirty="0">
                <a:solidFill>
                  <a:srgbClr val="443728"/>
                </a:solidFill>
                <a:latin typeface="Open Sans" pitchFamily="34" charset="0"/>
                <a:ea typeface="Open Sans" pitchFamily="34" charset="-122"/>
                <a:cs typeface="Open Sans" pitchFamily="34" charset="-120"/>
              </a:rPr>
              <a:t>$60.48 avg spend</a:t>
            </a:r>
            <a:endParaRPr lang="en-US" sz="1650" dirty="0"/>
          </a:p>
        </p:txBody>
      </p:sp>
      <p:sp>
        <p:nvSpPr>
          <p:cNvPr id="18" name="Text 15"/>
          <p:cNvSpPr/>
          <p:nvPr/>
        </p:nvSpPr>
        <p:spPr>
          <a:xfrm>
            <a:off x="4837390" y="6094095"/>
            <a:ext cx="3574494" cy="1352550"/>
          </a:xfrm>
          <a:prstGeom prst="rect">
            <a:avLst/>
          </a:prstGeom>
          <a:noFill/>
          <a:ln/>
        </p:spPr>
        <p:txBody>
          <a:bodyPr wrap="square" lIns="0" tIns="0" rIns="0" bIns="0" rtlCol="0" anchor="t"/>
          <a:lstStyle/>
          <a:p>
            <a:pPr marL="0" indent="0" algn="l">
              <a:lnSpc>
                <a:spcPts val="2650"/>
              </a:lnSpc>
              <a:buNone/>
            </a:pPr>
            <a:r>
              <a:rPr lang="en-US" sz="1650" dirty="0">
                <a:solidFill>
                  <a:srgbClr val="443728"/>
                </a:solidFill>
                <a:latin typeface="Open Sans" pitchFamily="34" charset="0"/>
                <a:ea typeface="Open Sans" pitchFamily="34" charset="-122"/>
                <a:cs typeface="Open Sans" pitchFamily="34" charset="-120"/>
              </a:rPr>
              <a:t>Express shipping users spend slightly more on average, indicating higher purchase urgency and willingness to pay premium.</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14970" y="813792"/>
            <a:ext cx="7004209" cy="638413"/>
          </a:xfrm>
          <a:prstGeom prst="rect">
            <a:avLst/>
          </a:prstGeom>
          <a:noFill/>
          <a:ln/>
        </p:spPr>
        <p:txBody>
          <a:bodyPr wrap="none" lIns="0" tIns="0" rIns="0" bIns="0" rtlCol="0" anchor="t"/>
          <a:lstStyle/>
          <a:p>
            <a:pPr marL="0" indent="0" algn="l">
              <a:lnSpc>
                <a:spcPts val="5000"/>
              </a:lnSpc>
              <a:buNone/>
            </a:pPr>
            <a:r>
              <a:rPr lang="en-US" sz="4000" b="1" dirty="0">
                <a:solidFill>
                  <a:srgbClr val="443728"/>
                </a:solidFill>
                <a:latin typeface="Stylus BT" panose="020E0402020206020304" pitchFamily="34" charset="0"/>
                <a:ea typeface="Crimson Pro Bold" pitchFamily="34" charset="-122"/>
                <a:cs typeface="Crimson Pro Bold" pitchFamily="34" charset="-120"/>
              </a:rPr>
              <a:t>Subscription Status Comparison</a:t>
            </a:r>
            <a:endParaRPr lang="en-US" sz="4000" dirty="0">
              <a:latin typeface="Stylus BT" panose="020E0402020206020304" pitchFamily="34" charset="0"/>
            </a:endParaRPr>
          </a:p>
        </p:txBody>
      </p:sp>
      <p:sp>
        <p:nvSpPr>
          <p:cNvPr id="4" name="Shape 1"/>
          <p:cNvSpPr/>
          <p:nvPr/>
        </p:nvSpPr>
        <p:spPr>
          <a:xfrm>
            <a:off x="714970" y="1758553"/>
            <a:ext cx="7714059" cy="2121337"/>
          </a:xfrm>
          <a:prstGeom prst="roundRect">
            <a:avLst>
              <a:gd name="adj" fmla="val 4045"/>
            </a:avLst>
          </a:prstGeom>
          <a:solidFill>
            <a:srgbClr val="FFFCFA"/>
          </a:solidFill>
          <a:ln w="22860">
            <a:solidFill>
              <a:srgbClr val="D1C8C6"/>
            </a:solidFill>
            <a:prstDash val="solid"/>
          </a:ln>
        </p:spPr>
      </p:sp>
      <p:sp>
        <p:nvSpPr>
          <p:cNvPr id="5" name="Shape 2"/>
          <p:cNvSpPr/>
          <p:nvPr/>
        </p:nvSpPr>
        <p:spPr>
          <a:xfrm>
            <a:off x="737830" y="1781413"/>
            <a:ext cx="817126" cy="2075617"/>
          </a:xfrm>
          <a:prstGeom prst="roundRect">
            <a:avLst>
              <a:gd name="adj" fmla="val 7144"/>
            </a:avLst>
          </a:prstGeom>
          <a:solidFill>
            <a:srgbClr val="EBE2E0"/>
          </a:solidFill>
          <a:ln/>
        </p:spPr>
      </p:sp>
      <p:pic>
        <p:nvPicPr>
          <p:cNvPr id="6"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89409" y="2666048"/>
            <a:ext cx="306348" cy="306348"/>
          </a:xfrm>
          <a:prstGeom prst="rect">
            <a:avLst/>
          </a:prstGeom>
        </p:spPr>
      </p:pic>
      <p:sp>
        <p:nvSpPr>
          <p:cNvPr id="7" name="Text 3"/>
          <p:cNvSpPr/>
          <p:nvPr/>
        </p:nvSpPr>
        <p:spPr>
          <a:xfrm>
            <a:off x="1759148" y="1985605"/>
            <a:ext cx="2553772" cy="319207"/>
          </a:xfrm>
          <a:prstGeom prst="rect">
            <a:avLst/>
          </a:prstGeom>
          <a:noFill/>
          <a:ln/>
        </p:spPr>
        <p:txBody>
          <a:bodyPr wrap="none" lIns="0" tIns="0" rIns="0" bIns="0" rtlCol="0" anchor="t"/>
          <a:lstStyle/>
          <a:p>
            <a:pPr marL="0" indent="0" algn="l">
              <a:lnSpc>
                <a:spcPts val="2500"/>
              </a:lnSpc>
              <a:buNone/>
            </a:pPr>
            <a:r>
              <a:rPr lang="en-US" sz="2000" b="1" dirty="0">
                <a:solidFill>
                  <a:srgbClr val="443728"/>
                </a:solidFill>
                <a:latin typeface="Stylus BT" panose="020E0402020206020304" pitchFamily="34" charset="0"/>
                <a:ea typeface="Crimson Pro Bold" pitchFamily="34" charset="-122"/>
                <a:cs typeface="Crimson Pro Bold" pitchFamily="34" charset="-120"/>
              </a:rPr>
              <a:t>Subscribers</a:t>
            </a:r>
            <a:endParaRPr lang="en-US" sz="2000" dirty="0">
              <a:latin typeface="Stylus BT" panose="020E0402020206020304" pitchFamily="34" charset="0"/>
            </a:endParaRPr>
          </a:p>
        </p:txBody>
      </p:sp>
      <p:sp>
        <p:nvSpPr>
          <p:cNvPr id="8" name="Text 4"/>
          <p:cNvSpPr/>
          <p:nvPr/>
        </p:nvSpPr>
        <p:spPr>
          <a:xfrm>
            <a:off x="1759148" y="2427327"/>
            <a:ext cx="6442829" cy="326827"/>
          </a:xfrm>
          <a:prstGeom prst="rect">
            <a:avLst/>
          </a:prstGeom>
          <a:noFill/>
          <a:ln/>
        </p:spPr>
        <p:txBody>
          <a:bodyPr wrap="none" lIns="0" tIns="0" rIns="0" bIns="0" rtlCol="0" anchor="t"/>
          <a:lstStyle/>
          <a:p>
            <a:pPr marL="0" indent="0" algn="l">
              <a:lnSpc>
                <a:spcPts val="2550"/>
              </a:lnSpc>
              <a:buNone/>
            </a:pPr>
            <a:r>
              <a:rPr lang="en-US" sz="1600" b="1" dirty="0">
                <a:solidFill>
                  <a:srgbClr val="443728"/>
                </a:solidFill>
                <a:latin typeface="Open Sans" pitchFamily="34" charset="0"/>
                <a:ea typeface="Open Sans" pitchFamily="34" charset="-122"/>
                <a:cs typeface="Open Sans" pitchFamily="34" charset="-120"/>
              </a:rPr>
              <a:t>1,053 customers</a:t>
            </a:r>
            <a:endParaRPr lang="en-US" sz="1600" dirty="0"/>
          </a:p>
        </p:txBody>
      </p:sp>
      <p:sp>
        <p:nvSpPr>
          <p:cNvPr id="9" name="Text 5"/>
          <p:cNvSpPr/>
          <p:nvPr/>
        </p:nvSpPr>
        <p:spPr>
          <a:xfrm>
            <a:off x="1759148" y="2876669"/>
            <a:ext cx="6442829" cy="326827"/>
          </a:xfrm>
          <a:prstGeom prst="rect">
            <a:avLst/>
          </a:prstGeom>
          <a:noFill/>
          <a:ln/>
        </p:spPr>
        <p:txBody>
          <a:bodyPr wrap="none" lIns="0" tIns="0" rIns="0" bIns="0" rtlCol="0" anchor="t"/>
          <a:lstStyle/>
          <a:p>
            <a:pPr marL="0" indent="0" algn="l">
              <a:lnSpc>
                <a:spcPts val="2550"/>
              </a:lnSpc>
              <a:buNone/>
            </a:pPr>
            <a:r>
              <a:rPr lang="en-US" sz="1600" dirty="0">
                <a:solidFill>
                  <a:srgbClr val="443728"/>
                </a:solidFill>
                <a:latin typeface="Open Sans" pitchFamily="34" charset="0"/>
                <a:ea typeface="Open Sans" pitchFamily="34" charset="-122"/>
                <a:cs typeface="Open Sans" pitchFamily="34" charset="-120"/>
              </a:rPr>
              <a:t>Average spend: </a:t>
            </a:r>
            <a:r>
              <a:rPr lang="en-US" sz="1600" b="1" dirty="0">
                <a:solidFill>
                  <a:srgbClr val="443728"/>
                </a:solidFill>
                <a:latin typeface="Open Sans" pitchFamily="34" charset="0"/>
                <a:ea typeface="Open Sans" pitchFamily="34" charset="-122"/>
                <a:cs typeface="Open Sans" pitchFamily="34" charset="-120"/>
              </a:rPr>
              <a:t>$59.49</a:t>
            </a:r>
            <a:endParaRPr lang="en-US" sz="1600" dirty="0"/>
          </a:p>
        </p:txBody>
      </p:sp>
      <p:sp>
        <p:nvSpPr>
          <p:cNvPr id="10" name="Text 6"/>
          <p:cNvSpPr/>
          <p:nvPr/>
        </p:nvSpPr>
        <p:spPr>
          <a:xfrm>
            <a:off x="1759148" y="3326011"/>
            <a:ext cx="6442829" cy="326827"/>
          </a:xfrm>
          <a:prstGeom prst="rect">
            <a:avLst/>
          </a:prstGeom>
          <a:noFill/>
          <a:ln/>
        </p:spPr>
        <p:txBody>
          <a:bodyPr wrap="none" lIns="0" tIns="0" rIns="0" bIns="0" rtlCol="0" anchor="t"/>
          <a:lstStyle/>
          <a:p>
            <a:pPr marL="0" indent="0" algn="l">
              <a:lnSpc>
                <a:spcPts val="2550"/>
              </a:lnSpc>
              <a:buNone/>
            </a:pPr>
            <a:r>
              <a:rPr lang="en-US" sz="1600" dirty="0">
                <a:solidFill>
                  <a:srgbClr val="443728"/>
                </a:solidFill>
                <a:latin typeface="Open Sans" pitchFamily="34" charset="0"/>
                <a:ea typeface="Open Sans" pitchFamily="34" charset="-122"/>
                <a:cs typeface="Open Sans" pitchFamily="34" charset="-120"/>
              </a:rPr>
              <a:t>Total revenue: </a:t>
            </a:r>
            <a:r>
              <a:rPr lang="en-US" sz="1600" b="1" dirty="0">
                <a:solidFill>
                  <a:srgbClr val="443728"/>
                </a:solidFill>
                <a:latin typeface="Open Sans" pitchFamily="34" charset="0"/>
                <a:ea typeface="Open Sans" pitchFamily="34" charset="-122"/>
                <a:cs typeface="Open Sans" pitchFamily="34" charset="-120"/>
              </a:rPr>
              <a:t>$62,645</a:t>
            </a:r>
            <a:endParaRPr lang="en-US" sz="1600" dirty="0"/>
          </a:p>
        </p:txBody>
      </p:sp>
      <p:sp>
        <p:nvSpPr>
          <p:cNvPr id="11" name="Shape 7"/>
          <p:cNvSpPr/>
          <p:nvPr/>
        </p:nvSpPr>
        <p:spPr>
          <a:xfrm>
            <a:off x="714970" y="4084082"/>
            <a:ext cx="7714059" cy="2121337"/>
          </a:xfrm>
          <a:prstGeom prst="roundRect">
            <a:avLst>
              <a:gd name="adj" fmla="val 4045"/>
            </a:avLst>
          </a:prstGeom>
          <a:solidFill>
            <a:srgbClr val="FFFCFA"/>
          </a:solidFill>
          <a:ln w="22860">
            <a:solidFill>
              <a:srgbClr val="D1C8C6"/>
            </a:solidFill>
            <a:prstDash val="solid"/>
          </a:ln>
        </p:spPr>
      </p:sp>
      <p:sp>
        <p:nvSpPr>
          <p:cNvPr id="12" name="Shape 8"/>
          <p:cNvSpPr/>
          <p:nvPr/>
        </p:nvSpPr>
        <p:spPr>
          <a:xfrm>
            <a:off x="737830" y="4106942"/>
            <a:ext cx="817126" cy="2075617"/>
          </a:xfrm>
          <a:prstGeom prst="roundRect">
            <a:avLst>
              <a:gd name="adj" fmla="val 7144"/>
            </a:avLst>
          </a:prstGeom>
          <a:solidFill>
            <a:srgbClr val="EBE2E0"/>
          </a:solidFill>
          <a:ln/>
        </p:spPr>
      </p:sp>
      <p:pic>
        <p:nvPicPr>
          <p:cNvPr id="13" name="Image 2" descr="preencoded.png"/>
          <p:cNvPicPr>
            <a:picLocks noChangeAspect="1"/>
          </p:cNvPicPr>
          <p:nvPr/>
        </p:nvPicPr>
        <p:blipFill>
          <a:blip r:embed="rId4">
            <a:extLst>
              <a:ext uri="{96DAC541-7B7A-43D3-8B79-37D633B846F1}">
                <asvg:svgBlip xmlns:asvg="http://schemas.microsoft.com/office/drawing/2016/SVG/main" r:embed="rId6"/>
              </a:ext>
            </a:extLst>
          </a:blip>
          <a:stretch>
            <a:fillRect/>
          </a:stretch>
        </p:blipFill>
        <p:spPr>
          <a:xfrm>
            <a:off x="989409" y="4991576"/>
            <a:ext cx="306348" cy="306348"/>
          </a:xfrm>
          <a:prstGeom prst="rect">
            <a:avLst/>
          </a:prstGeom>
        </p:spPr>
      </p:pic>
      <p:sp>
        <p:nvSpPr>
          <p:cNvPr id="14" name="Text 9"/>
          <p:cNvSpPr/>
          <p:nvPr/>
        </p:nvSpPr>
        <p:spPr>
          <a:xfrm>
            <a:off x="1759148" y="4311134"/>
            <a:ext cx="2553772" cy="319207"/>
          </a:xfrm>
          <a:prstGeom prst="rect">
            <a:avLst/>
          </a:prstGeom>
          <a:noFill/>
          <a:ln/>
        </p:spPr>
        <p:txBody>
          <a:bodyPr wrap="none" lIns="0" tIns="0" rIns="0" bIns="0" rtlCol="0" anchor="t"/>
          <a:lstStyle/>
          <a:p>
            <a:pPr marL="0" indent="0" algn="l">
              <a:lnSpc>
                <a:spcPts val="2500"/>
              </a:lnSpc>
              <a:buNone/>
            </a:pPr>
            <a:r>
              <a:rPr lang="en-US" sz="2000" b="1" dirty="0">
                <a:solidFill>
                  <a:srgbClr val="443728"/>
                </a:solidFill>
                <a:latin typeface="Stylus BT" panose="020E0402020206020304" pitchFamily="34" charset="0"/>
                <a:ea typeface="Crimson Pro Bold" pitchFamily="34" charset="-122"/>
                <a:cs typeface="Crimson Pro Bold" pitchFamily="34" charset="-120"/>
              </a:rPr>
              <a:t>Non-Subscribers</a:t>
            </a:r>
            <a:endParaRPr lang="en-US" sz="2000" dirty="0">
              <a:latin typeface="Stylus BT" panose="020E0402020206020304" pitchFamily="34" charset="0"/>
            </a:endParaRPr>
          </a:p>
        </p:txBody>
      </p:sp>
      <p:sp>
        <p:nvSpPr>
          <p:cNvPr id="15" name="Text 10"/>
          <p:cNvSpPr/>
          <p:nvPr/>
        </p:nvSpPr>
        <p:spPr>
          <a:xfrm>
            <a:off x="1759148" y="4752856"/>
            <a:ext cx="6442829" cy="326827"/>
          </a:xfrm>
          <a:prstGeom prst="rect">
            <a:avLst/>
          </a:prstGeom>
          <a:noFill/>
          <a:ln/>
        </p:spPr>
        <p:txBody>
          <a:bodyPr wrap="none" lIns="0" tIns="0" rIns="0" bIns="0" rtlCol="0" anchor="t"/>
          <a:lstStyle/>
          <a:p>
            <a:pPr marL="0" indent="0" algn="l">
              <a:lnSpc>
                <a:spcPts val="2550"/>
              </a:lnSpc>
              <a:buNone/>
            </a:pPr>
            <a:r>
              <a:rPr lang="en-US" sz="1600" b="1" dirty="0">
                <a:solidFill>
                  <a:srgbClr val="443728"/>
                </a:solidFill>
                <a:latin typeface="Open Sans" pitchFamily="34" charset="0"/>
                <a:ea typeface="Open Sans" pitchFamily="34" charset="-122"/>
                <a:cs typeface="Open Sans" pitchFamily="34" charset="-120"/>
              </a:rPr>
              <a:t>2,847 customers</a:t>
            </a:r>
            <a:endParaRPr lang="en-US" sz="1600" dirty="0"/>
          </a:p>
        </p:txBody>
      </p:sp>
      <p:sp>
        <p:nvSpPr>
          <p:cNvPr id="16" name="Text 11"/>
          <p:cNvSpPr/>
          <p:nvPr/>
        </p:nvSpPr>
        <p:spPr>
          <a:xfrm>
            <a:off x="1759148" y="5202198"/>
            <a:ext cx="6442829" cy="326827"/>
          </a:xfrm>
          <a:prstGeom prst="rect">
            <a:avLst/>
          </a:prstGeom>
          <a:noFill/>
          <a:ln/>
        </p:spPr>
        <p:txBody>
          <a:bodyPr wrap="none" lIns="0" tIns="0" rIns="0" bIns="0" rtlCol="0" anchor="t"/>
          <a:lstStyle/>
          <a:p>
            <a:pPr marL="0" indent="0" algn="l">
              <a:lnSpc>
                <a:spcPts val="2550"/>
              </a:lnSpc>
              <a:buNone/>
            </a:pPr>
            <a:r>
              <a:rPr lang="en-US" sz="1600" dirty="0">
                <a:solidFill>
                  <a:srgbClr val="443728"/>
                </a:solidFill>
                <a:latin typeface="Open Sans" pitchFamily="34" charset="0"/>
                <a:ea typeface="Open Sans" pitchFamily="34" charset="-122"/>
                <a:cs typeface="Open Sans" pitchFamily="34" charset="-120"/>
              </a:rPr>
              <a:t>Average spend: </a:t>
            </a:r>
            <a:r>
              <a:rPr lang="en-US" sz="1600" b="1" dirty="0">
                <a:solidFill>
                  <a:srgbClr val="443728"/>
                </a:solidFill>
                <a:latin typeface="Open Sans" pitchFamily="34" charset="0"/>
                <a:ea typeface="Open Sans" pitchFamily="34" charset="-122"/>
                <a:cs typeface="Open Sans" pitchFamily="34" charset="-120"/>
              </a:rPr>
              <a:t>$59.87</a:t>
            </a:r>
            <a:endParaRPr lang="en-US" sz="1600" dirty="0"/>
          </a:p>
        </p:txBody>
      </p:sp>
      <p:sp>
        <p:nvSpPr>
          <p:cNvPr id="17" name="Text 12"/>
          <p:cNvSpPr/>
          <p:nvPr/>
        </p:nvSpPr>
        <p:spPr>
          <a:xfrm>
            <a:off x="1759148" y="5651540"/>
            <a:ext cx="6442829" cy="326827"/>
          </a:xfrm>
          <a:prstGeom prst="rect">
            <a:avLst/>
          </a:prstGeom>
          <a:noFill/>
          <a:ln/>
        </p:spPr>
        <p:txBody>
          <a:bodyPr wrap="none" lIns="0" tIns="0" rIns="0" bIns="0" rtlCol="0" anchor="t"/>
          <a:lstStyle/>
          <a:p>
            <a:pPr marL="0" indent="0" algn="l">
              <a:lnSpc>
                <a:spcPts val="2550"/>
              </a:lnSpc>
              <a:buNone/>
            </a:pPr>
            <a:r>
              <a:rPr lang="en-US" sz="1600" dirty="0">
                <a:solidFill>
                  <a:srgbClr val="443728"/>
                </a:solidFill>
                <a:latin typeface="Open Sans" pitchFamily="34" charset="0"/>
                <a:ea typeface="Open Sans" pitchFamily="34" charset="-122"/>
                <a:cs typeface="Open Sans" pitchFamily="34" charset="-120"/>
              </a:rPr>
              <a:t>Total revenue: </a:t>
            </a:r>
            <a:r>
              <a:rPr lang="en-US" sz="1600" b="1" dirty="0">
                <a:solidFill>
                  <a:srgbClr val="443728"/>
                </a:solidFill>
                <a:latin typeface="Open Sans" pitchFamily="34" charset="0"/>
                <a:ea typeface="Open Sans" pitchFamily="34" charset="-122"/>
                <a:cs typeface="Open Sans" pitchFamily="34" charset="-120"/>
              </a:rPr>
              <a:t>$170,436</a:t>
            </a:r>
            <a:endParaRPr lang="en-US" sz="1600" dirty="0"/>
          </a:p>
        </p:txBody>
      </p:sp>
      <p:sp>
        <p:nvSpPr>
          <p:cNvPr id="18" name="Text 13"/>
          <p:cNvSpPr/>
          <p:nvPr/>
        </p:nvSpPr>
        <p:spPr>
          <a:xfrm>
            <a:off x="714970" y="6435209"/>
            <a:ext cx="7714059" cy="980480"/>
          </a:xfrm>
          <a:prstGeom prst="rect">
            <a:avLst/>
          </a:prstGeom>
          <a:noFill/>
          <a:ln/>
        </p:spPr>
        <p:txBody>
          <a:bodyPr wrap="square" lIns="0" tIns="0" rIns="0" bIns="0" rtlCol="0" anchor="t"/>
          <a:lstStyle/>
          <a:p>
            <a:pPr marL="0" indent="0" algn="l">
              <a:lnSpc>
                <a:spcPts val="2550"/>
              </a:lnSpc>
              <a:buNone/>
            </a:pPr>
            <a:r>
              <a:rPr lang="en-US" sz="1600" dirty="0">
                <a:solidFill>
                  <a:srgbClr val="443728"/>
                </a:solidFill>
                <a:latin typeface="Open Sans" pitchFamily="34" charset="0"/>
                <a:ea typeface="Open Sans" pitchFamily="34" charset="-122"/>
                <a:cs typeface="Open Sans" pitchFamily="34" charset="-120"/>
              </a:rPr>
              <a:t>While non-subscribers generate more total revenue due to volume, subscribers show comparable spending patterns. The opportunity lies in converting more customers to subscription status to build predictable revenue streams.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25329" y="569952"/>
            <a:ext cx="7261741" cy="647700"/>
          </a:xfrm>
          <a:prstGeom prst="rect">
            <a:avLst/>
          </a:prstGeom>
          <a:noFill/>
          <a:ln/>
        </p:spPr>
        <p:txBody>
          <a:bodyPr wrap="none" lIns="0" tIns="0" rIns="0" bIns="0" rtlCol="0" anchor="t"/>
          <a:lstStyle/>
          <a:p>
            <a:pPr marL="0" indent="0" algn="l">
              <a:lnSpc>
                <a:spcPts val="5050"/>
              </a:lnSpc>
              <a:buNone/>
            </a:pPr>
            <a:r>
              <a:rPr lang="en-US" sz="4050" b="1" dirty="0">
                <a:solidFill>
                  <a:srgbClr val="443728"/>
                </a:solidFill>
                <a:latin typeface="Stylus BT" panose="020E0402020206020304" pitchFamily="34" charset="0"/>
                <a:ea typeface="Crimson Pro Bold" pitchFamily="34" charset="-122"/>
                <a:cs typeface="Crimson Pro Bold" pitchFamily="34" charset="-120"/>
              </a:rPr>
              <a:t>Customer Segmentation Analysis</a:t>
            </a:r>
            <a:endParaRPr lang="en-US" sz="4050" dirty="0">
              <a:latin typeface="Stylus BT" panose="020E0402020206020304" pitchFamily="34" charset="0"/>
            </a:endParaRPr>
          </a:p>
        </p:txBody>
      </p:sp>
      <p:pic>
        <p:nvPicPr>
          <p:cNvPr id="3" name="Image 0" descr="preencoded.png"/>
          <p:cNvPicPr>
            <a:picLocks noChangeAspect="1"/>
          </p:cNvPicPr>
          <p:nvPr/>
        </p:nvPicPr>
        <p:blipFill>
          <a:blip r:embed="rId3"/>
          <a:stretch>
            <a:fillRect/>
          </a:stretch>
        </p:blipFill>
        <p:spPr>
          <a:xfrm>
            <a:off x="2932867" y="1632109"/>
            <a:ext cx="2174558" cy="1194078"/>
          </a:xfrm>
          <a:prstGeom prst="rect">
            <a:avLst/>
          </a:prstGeom>
        </p:spPr>
      </p:pic>
      <p:sp>
        <p:nvSpPr>
          <p:cNvPr id="4" name="Text 1"/>
          <p:cNvSpPr/>
          <p:nvPr/>
        </p:nvSpPr>
        <p:spPr>
          <a:xfrm>
            <a:off x="3874413" y="2195036"/>
            <a:ext cx="291346" cy="364212"/>
          </a:xfrm>
          <a:prstGeom prst="rect">
            <a:avLst/>
          </a:prstGeom>
          <a:noFill/>
          <a:ln/>
        </p:spPr>
        <p:txBody>
          <a:bodyPr wrap="none" lIns="0" tIns="0" rIns="0" bIns="0" rtlCol="0" anchor="t"/>
          <a:lstStyle/>
          <a:p>
            <a:pPr marL="0" indent="0" algn="ctr">
              <a:lnSpc>
                <a:spcPts val="3650"/>
              </a:lnSpc>
              <a:buNone/>
            </a:pPr>
            <a:r>
              <a:rPr lang="en-US" sz="2250" b="1" dirty="0">
                <a:solidFill>
                  <a:srgbClr val="443728"/>
                </a:solidFill>
                <a:latin typeface="Crimson Pro Bold" pitchFamily="34" charset="0"/>
                <a:ea typeface="Crimson Pro Bold" pitchFamily="34" charset="-122"/>
                <a:cs typeface="Crimson Pro Bold" pitchFamily="34" charset="-120"/>
              </a:rPr>
              <a:t>1</a:t>
            </a:r>
            <a:endParaRPr lang="en-US" sz="2250" dirty="0"/>
          </a:p>
        </p:txBody>
      </p:sp>
      <p:sp>
        <p:nvSpPr>
          <p:cNvPr id="5" name="Text 2"/>
          <p:cNvSpPr/>
          <p:nvPr/>
        </p:nvSpPr>
        <p:spPr>
          <a:xfrm>
            <a:off x="5314593" y="1839278"/>
            <a:ext cx="1596271" cy="323850"/>
          </a:xfrm>
          <a:prstGeom prst="rect">
            <a:avLst/>
          </a:prstGeom>
          <a:noFill/>
          <a:ln/>
        </p:spPr>
        <p:txBody>
          <a:bodyPr wrap="none" lIns="0" tIns="0" rIns="0" bIns="0" rtlCol="0" anchor="t"/>
          <a:lstStyle/>
          <a:p>
            <a:pPr marL="0" indent="0" algn="l">
              <a:lnSpc>
                <a:spcPts val="2500"/>
              </a:lnSpc>
              <a:buNone/>
            </a:pPr>
            <a:r>
              <a:rPr lang="en-US" sz="2000" b="1" dirty="0">
                <a:solidFill>
                  <a:srgbClr val="443728"/>
                </a:solidFill>
                <a:latin typeface="Stylus BT" panose="020E0402020206020304" pitchFamily="34" charset="0"/>
                <a:ea typeface="Crimson Pro Bold" pitchFamily="34" charset="-122"/>
                <a:cs typeface="Crimson Pro Bold" pitchFamily="34" charset="-120"/>
              </a:rPr>
              <a:t>Loyal</a:t>
            </a:r>
            <a:endParaRPr lang="en-US" sz="2000" dirty="0">
              <a:latin typeface="Stylus BT" panose="020E0402020206020304" pitchFamily="34" charset="0"/>
            </a:endParaRPr>
          </a:p>
        </p:txBody>
      </p:sp>
      <p:sp>
        <p:nvSpPr>
          <p:cNvPr id="6" name="Text 3"/>
          <p:cNvSpPr/>
          <p:nvPr/>
        </p:nvSpPr>
        <p:spPr>
          <a:xfrm>
            <a:off x="5314593" y="2287429"/>
            <a:ext cx="1596271" cy="331589"/>
          </a:xfrm>
          <a:prstGeom prst="rect">
            <a:avLst/>
          </a:prstGeom>
          <a:noFill/>
          <a:ln/>
        </p:spPr>
        <p:txBody>
          <a:bodyPr wrap="none" lIns="0" tIns="0" rIns="0" bIns="0" rtlCol="0" anchor="t"/>
          <a:lstStyle/>
          <a:p>
            <a:pPr marL="0" indent="0" algn="l">
              <a:lnSpc>
                <a:spcPts val="2600"/>
              </a:lnSpc>
              <a:buNone/>
            </a:pPr>
            <a:r>
              <a:rPr lang="en-US" sz="1600" dirty="0">
                <a:solidFill>
                  <a:srgbClr val="443728"/>
                </a:solidFill>
                <a:latin typeface="Open Sans" pitchFamily="34" charset="0"/>
                <a:ea typeface="Open Sans" pitchFamily="34" charset="-122"/>
                <a:cs typeface="Open Sans" pitchFamily="34" charset="-120"/>
              </a:rPr>
              <a:t>3,116 customers</a:t>
            </a:r>
            <a:endParaRPr lang="en-US" sz="1600" dirty="0"/>
          </a:p>
        </p:txBody>
      </p:sp>
      <p:sp>
        <p:nvSpPr>
          <p:cNvPr id="7" name="Shape 4"/>
          <p:cNvSpPr/>
          <p:nvPr/>
        </p:nvSpPr>
        <p:spPr>
          <a:xfrm>
            <a:off x="5159216" y="2842498"/>
            <a:ext cx="8694063" cy="11430"/>
          </a:xfrm>
          <a:prstGeom prst="roundRect">
            <a:avLst>
              <a:gd name="adj" fmla="val 761563"/>
            </a:avLst>
          </a:prstGeom>
          <a:solidFill>
            <a:srgbClr val="D1C8C6"/>
          </a:solidFill>
          <a:ln/>
        </p:spPr>
      </p:sp>
      <p:pic>
        <p:nvPicPr>
          <p:cNvPr id="8" name="Image 1" descr="preencoded.png"/>
          <p:cNvPicPr>
            <a:picLocks noChangeAspect="1"/>
          </p:cNvPicPr>
          <p:nvPr/>
        </p:nvPicPr>
        <p:blipFill>
          <a:blip r:embed="rId4"/>
          <a:stretch>
            <a:fillRect/>
          </a:stretch>
        </p:blipFill>
        <p:spPr>
          <a:xfrm>
            <a:off x="1845588" y="2877979"/>
            <a:ext cx="4349234" cy="1194078"/>
          </a:xfrm>
          <a:prstGeom prst="rect">
            <a:avLst/>
          </a:prstGeom>
        </p:spPr>
      </p:pic>
      <p:sp>
        <p:nvSpPr>
          <p:cNvPr id="9" name="Text 5"/>
          <p:cNvSpPr/>
          <p:nvPr/>
        </p:nvSpPr>
        <p:spPr>
          <a:xfrm>
            <a:off x="3874413" y="3292912"/>
            <a:ext cx="291346" cy="364212"/>
          </a:xfrm>
          <a:prstGeom prst="rect">
            <a:avLst/>
          </a:prstGeom>
          <a:noFill/>
          <a:ln/>
        </p:spPr>
        <p:txBody>
          <a:bodyPr wrap="none" lIns="0" tIns="0" rIns="0" bIns="0" rtlCol="0" anchor="t"/>
          <a:lstStyle/>
          <a:p>
            <a:pPr marL="0" indent="0" algn="ctr">
              <a:lnSpc>
                <a:spcPts val="3650"/>
              </a:lnSpc>
              <a:buNone/>
            </a:pPr>
            <a:r>
              <a:rPr lang="en-US" sz="2250" b="1" dirty="0">
                <a:solidFill>
                  <a:srgbClr val="443728"/>
                </a:solidFill>
                <a:latin typeface="Crimson Pro Bold" pitchFamily="34" charset="0"/>
                <a:ea typeface="Crimson Pro Bold" pitchFamily="34" charset="-122"/>
                <a:cs typeface="Crimson Pro Bold" pitchFamily="34" charset="-120"/>
              </a:rPr>
              <a:t>2</a:t>
            </a:r>
            <a:endParaRPr lang="en-US" sz="2250" dirty="0"/>
          </a:p>
        </p:txBody>
      </p:sp>
      <p:sp>
        <p:nvSpPr>
          <p:cNvPr id="10" name="Text 6"/>
          <p:cNvSpPr/>
          <p:nvPr/>
        </p:nvSpPr>
        <p:spPr>
          <a:xfrm>
            <a:off x="6401991" y="3085147"/>
            <a:ext cx="1424226" cy="323850"/>
          </a:xfrm>
          <a:prstGeom prst="rect">
            <a:avLst/>
          </a:prstGeom>
          <a:noFill/>
          <a:ln/>
        </p:spPr>
        <p:txBody>
          <a:bodyPr wrap="none" lIns="0" tIns="0" rIns="0" bIns="0" rtlCol="0" anchor="t"/>
          <a:lstStyle/>
          <a:p>
            <a:pPr marL="0" indent="0" algn="l">
              <a:lnSpc>
                <a:spcPts val="2500"/>
              </a:lnSpc>
              <a:buNone/>
            </a:pPr>
            <a:r>
              <a:rPr lang="en-US" sz="2000" b="1" dirty="0">
                <a:solidFill>
                  <a:srgbClr val="443728"/>
                </a:solidFill>
                <a:latin typeface="Stylus BT" panose="020E0402020206020304" pitchFamily="34" charset="0"/>
                <a:ea typeface="Crimson Pro Bold" pitchFamily="34" charset="-122"/>
                <a:cs typeface="Crimson Pro Bold" pitchFamily="34" charset="-120"/>
              </a:rPr>
              <a:t>Returning</a:t>
            </a:r>
            <a:endParaRPr lang="en-US" sz="2000" dirty="0">
              <a:latin typeface="Stylus BT" panose="020E0402020206020304" pitchFamily="34" charset="0"/>
            </a:endParaRPr>
          </a:p>
        </p:txBody>
      </p:sp>
      <p:sp>
        <p:nvSpPr>
          <p:cNvPr id="11" name="Text 7"/>
          <p:cNvSpPr/>
          <p:nvPr/>
        </p:nvSpPr>
        <p:spPr>
          <a:xfrm>
            <a:off x="6401991" y="3533299"/>
            <a:ext cx="1424226" cy="331589"/>
          </a:xfrm>
          <a:prstGeom prst="rect">
            <a:avLst/>
          </a:prstGeom>
          <a:noFill/>
          <a:ln/>
        </p:spPr>
        <p:txBody>
          <a:bodyPr wrap="none" lIns="0" tIns="0" rIns="0" bIns="0" rtlCol="0" anchor="t"/>
          <a:lstStyle/>
          <a:p>
            <a:pPr marL="0" indent="0" algn="l">
              <a:lnSpc>
                <a:spcPts val="2600"/>
              </a:lnSpc>
              <a:buNone/>
            </a:pPr>
            <a:r>
              <a:rPr lang="en-US" sz="1600" dirty="0">
                <a:solidFill>
                  <a:srgbClr val="443728"/>
                </a:solidFill>
                <a:latin typeface="Open Sans" pitchFamily="34" charset="0"/>
                <a:ea typeface="Open Sans" pitchFamily="34" charset="-122"/>
                <a:cs typeface="Open Sans" pitchFamily="34" charset="-120"/>
              </a:rPr>
              <a:t>701 customers</a:t>
            </a:r>
            <a:endParaRPr lang="en-US" sz="1600" dirty="0"/>
          </a:p>
        </p:txBody>
      </p:sp>
      <p:sp>
        <p:nvSpPr>
          <p:cNvPr id="12" name="Shape 8"/>
          <p:cNvSpPr/>
          <p:nvPr/>
        </p:nvSpPr>
        <p:spPr>
          <a:xfrm>
            <a:off x="6246614" y="4088368"/>
            <a:ext cx="7606665" cy="11430"/>
          </a:xfrm>
          <a:prstGeom prst="roundRect">
            <a:avLst>
              <a:gd name="adj" fmla="val 761563"/>
            </a:avLst>
          </a:prstGeom>
          <a:solidFill>
            <a:srgbClr val="D1C8C6"/>
          </a:solidFill>
          <a:ln/>
        </p:spPr>
      </p:sp>
      <p:pic>
        <p:nvPicPr>
          <p:cNvPr id="13" name="Image 2" descr="preencoded.png"/>
          <p:cNvPicPr>
            <a:picLocks noChangeAspect="1"/>
          </p:cNvPicPr>
          <p:nvPr/>
        </p:nvPicPr>
        <p:blipFill>
          <a:blip r:embed="rId5"/>
          <a:stretch>
            <a:fillRect/>
          </a:stretch>
        </p:blipFill>
        <p:spPr>
          <a:xfrm>
            <a:off x="758190" y="4123849"/>
            <a:ext cx="6523911" cy="1194078"/>
          </a:xfrm>
          <a:prstGeom prst="rect">
            <a:avLst/>
          </a:prstGeom>
        </p:spPr>
      </p:pic>
      <p:sp>
        <p:nvSpPr>
          <p:cNvPr id="14" name="Text 9"/>
          <p:cNvSpPr/>
          <p:nvPr/>
        </p:nvSpPr>
        <p:spPr>
          <a:xfrm>
            <a:off x="3874413" y="4538782"/>
            <a:ext cx="291346" cy="364212"/>
          </a:xfrm>
          <a:prstGeom prst="rect">
            <a:avLst/>
          </a:prstGeom>
          <a:noFill/>
          <a:ln/>
        </p:spPr>
        <p:txBody>
          <a:bodyPr wrap="none" lIns="0" tIns="0" rIns="0" bIns="0" rtlCol="0" anchor="t"/>
          <a:lstStyle/>
          <a:p>
            <a:pPr marL="0" indent="0" algn="ctr">
              <a:lnSpc>
                <a:spcPts val="3650"/>
              </a:lnSpc>
              <a:buNone/>
            </a:pPr>
            <a:r>
              <a:rPr lang="en-US" sz="2250" b="1" dirty="0">
                <a:solidFill>
                  <a:srgbClr val="443728"/>
                </a:solidFill>
                <a:latin typeface="Crimson Pro Bold" pitchFamily="34" charset="0"/>
                <a:ea typeface="Crimson Pro Bold" pitchFamily="34" charset="-122"/>
                <a:cs typeface="Crimson Pro Bold" pitchFamily="34" charset="-120"/>
              </a:rPr>
              <a:t>3</a:t>
            </a:r>
            <a:endParaRPr lang="en-US" sz="2250" dirty="0"/>
          </a:p>
        </p:txBody>
      </p:sp>
      <p:sp>
        <p:nvSpPr>
          <p:cNvPr id="15" name="Text 10"/>
          <p:cNvSpPr/>
          <p:nvPr/>
        </p:nvSpPr>
        <p:spPr>
          <a:xfrm>
            <a:off x="7489269" y="4331018"/>
            <a:ext cx="1305758" cy="323850"/>
          </a:xfrm>
          <a:prstGeom prst="rect">
            <a:avLst/>
          </a:prstGeom>
          <a:noFill/>
          <a:ln/>
        </p:spPr>
        <p:txBody>
          <a:bodyPr wrap="none" lIns="0" tIns="0" rIns="0" bIns="0" rtlCol="0" anchor="t"/>
          <a:lstStyle/>
          <a:p>
            <a:pPr marL="0" indent="0" algn="l">
              <a:lnSpc>
                <a:spcPts val="2500"/>
              </a:lnSpc>
              <a:buNone/>
            </a:pPr>
            <a:r>
              <a:rPr lang="en-US" sz="2000" b="1" dirty="0">
                <a:solidFill>
                  <a:srgbClr val="443728"/>
                </a:solidFill>
                <a:latin typeface="Stylus BT" panose="020E0402020206020304" pitchFamily="34" charset="0"/>
                <a:ea typeface="Crimson Pro Bold" pitchFamily="34" charset="-122"/>
                <a:cs typeface="Crimson Pro Bold" pitchFamily="34" charset="-120"/>
              </a:rPr>
              <a:t>New</a:t>
            </a:r>
            <a:endParaRPr lang="en-US" sz="2000" dirty="0">
              <a:latin typeface="Stylus BT" panose="020E0402020206020304" pitchFamily="34" charset="0"/>
            </a:endParaRPr>
          </a:p>
        </p:txBody>
      </p:sp>
      <p:sp>
        <p:nvSpPr>
          <p:cNvPr id="16" name="Text 11"/>
          <p:cNvSpPr/>
          <p:nvPr/>
        </p:nvSpPr>
        <p:spPr>
          <a:xfrm>
            <a:off x="7489269" y="4779169"/>
            <a:ext cx="1305758" cy="331589"/>
          </a:xfrm>
          <a:prstGeom prst="rect">
            <a:avLst/>
          </a:prstGeom>
          <a:noFill/>
          <a:ln/>
        </p:spPr>
        <p:txBody>
          <a:bodyPr wrap="none" lIns="0" tIns="0" rIns="0" bIns="0" rtlCol="0" anchor="t"/>
          <a:lstStyle/>
          <a:p>
            <a:pPr marL="0" indent="0" algn="l">
              <a:lnSpc>
                <a:spcPts val="2600"/>
              </a:lnSpc>
              <a:buNone/>
            </a:pPr>
            <a:r>
              <a:rPr lang="en-US" sz="1600" dirty="0">
                <a:solidFill>
                  <a:srgbClr val="443728"/>
                </a:solidFill>
                <a:latin typeface="Open Sans" pitchFamily="34" charset="0"/>
                <a:ea typeface="Open Sans" pitchFamily="34" charset="-122"/>
                <a:cs typeface="Open Sans" pitchFamily="34" charset="-120"/>
              </a:rPr>
              <a:t>83 customers</a:t>
            </a:r>
            <a:endParaRPr lang="en-US" sz="1600" dirty="0"/>
          </a:p>
        </p:txBody>
      </p:sp>
      <p:sp>
        <p:nvSpPr>
          <p:cNvPr id="17" name="Text 12"/>
          <p:cNvSpPr/>
          <p:nvPr/>
        </p:nvSpPr>
        <p:spPr>
          <a:xfrm>
            <a:off x="725329" y="5551051"/>
            <a:ext cx="13179743" cy="663178"/>
          </a:xfrm>
          <a:prstGeom prst="rect">
            <a:avLst/>
          </a:prstGeom>
          <a:noFill/>
          <a:ln/>
        </p:spPr>
        <p:txBody>
          <a:bodyPr wrap="square" lIns="0" tIns="0" rIns="0" bIns="0" rtlCol="0" anchor="t"/>
          <a:lstStyle/>
          <a:p>
            <a:pPr marL="0" indent="0" algn="l">
              <a:lnSpc>
                <a:spcPts val="2600"/>
              </a:lnSpc>
              <a:buNone/>
            </a:pPr>
            <a:r>
              <a:rPr lang="en-US" sz="1600" dirty="0">
                <a:solidFill>
                  <a:srgbClr val="443728"/>
                </a:solidFill>
                <a:latin typeface="Open Sans" pitchFamily="34" charset="0"/>
                <a:ea typeface="Open Sans" pitchFamily="34" charset="-122"/>
                <a:cs typeface="Open Sans" pitchFamily="34" charset="-120"/>
              </a:rPr>
              <a:t>The customer base is dominated by loyal buyers (80%), with returning customers at 18% and new customers at just 2%. This strong loyalty foundation presents opportunities for referral programs and exclusive benefits to reward top customers.</a:t>
            </a:r>
            <a:endParaRPr lang="en-US" sz="1600" dirty="0"/>
          </a:p>
        </p:txBody>
      </p:sp>
      <p:sp>
        <p:nvSpPr>
          <p:cNvPr id="18" name="Shape 13"/>
          <p:cNvSpPr/>
          <p:nvPr/>
        </p:nvSpPr>
        <p:spPr>
          <a:xfrm>
            <a:off x="725329" y="6447353"/>
            <a:ext cx="13179743" cy="1212175"/>
          </a:xfrm>
          <a:prstGeom prst="roundRect">
            <a:avLst>
              <a:gd name="adj" fmla="val 7181"/>
            </a:avLst>
          </a:prstGeom>
          <a:solidFill>
            <a:srgbClr val="E1D4D0"/>
          </a:solidFill>
          <a:ln/>
        </p:spPr>
      </p:sp>
      <p:pic>
        <p:nvPicPr>
          <p:cNvPr id="19" name="Image 3" descr="preencoded.png"/>
          <p:cNvPicPr>
            <a:picLocks noChangeAspect="1"/>
          </p:cNvPicPr>
          <p:nvPr/>
        </p:nvPicPr>
        <p:blipFill>
          <a:blip r:embed="rId6"/>
          <a:stretch>
            <a:fillRect/>
          </a:stretch>
        </p:blipFill>
        <p:spPr>
          <a:xfrm>
            <a:off x="932498" y="6768822"/>
            <a:ext cx="258961" cy="207169"/>
          </a:xfrm>
          <a:prstGeom prst="rect">
            <a:avLst/>
          </a:prstGeom>
        </p:spPr>
      </p:pic>
      <p:sp>
        <p:nvSpPr>
          <p:cNvPr id="20" name="Text 14"/>
          <p:cNvSpPr/>
          <p:nvPr/>
        </p:nvSpPr>
        <p:spPr>
          <a:xfrm>
            <a:off x="1398627" y="6706314"/>
            <a:ext cx="12299275" cy="663178"/>
          </a:xfrm>
          <a:prstGeom prst="rect">
            <a:avLst/>
          </a:prstGeom>
          <a:noFill/>
          <a:ln/>
        </p:spPr>
        <p:txBody>
          <a:bodyPr wrap="square" lIns="0" tIns="0" rIns="0" bIns="0" rtlCol="0" anchor="t"/>
          <a:lstStyle/>
          <a:p>
            <a:pPr marL="0" indent="0" algn="l">
              <a:lnSpc>
                <a:spcPts val="2600"/>
              </a:lnSpc>
              <a:buNone/>
            </a:pPr>
            <a:r>
              <a:rPr lang="en-US" sz="1600" b="1" dirty="0">
                <a:solidFill>
                  <a:srgbClr val="000000"/>
                </a:solidFill>
                <a:latin typeface="Open Sans" pitchFamily="34" charset="0"/>
                <a:ea typeface="Open Sans" pitchFamily="34" charset="-122"/>
                <a:cs typeface="Open Sans" pitchFamily="34" charset="-120"/>
              </a:rPr>
              <a:t>Key Insight:</a:t>
            </a:r>
            <a:r>
              <a:rPr lang="en-US" sz="1600" dirty="0">
                <a:solidFill>
                  <a:srgbClr val="000000"/>
                </a:solidFill>
                <a:latin typeface="Open Sans" pitchFamily="34" charset="0"/>
                <a:ea typeface="Open Sans" pitchFamily="34" charset="-122"/>
                <a:cs typeface="Open Sans" pitchFamily="34" charset="-120"/>
              </a:rPr>
              <a:t> 958 repeat buyers (&gt;5 purchases) are subscribers, suggesting subscription programs effectively retain high-value customers.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36138" y="421243"/>
            <a:ext cx="3830003" cy="478750"/>
          </a:xfrm>
          <a:prstGeom prst="rect">
            <a:avLst/>
          </a:prstGeom>
          <a:noFill/>
          <a:ln/>
        </p:spPr>
        <p:txBody>
          <a:bodyPr wrap="none" lIns="0" tIns="0" rIns="0" bIns="0" rtlCol="0" anchor="t"/>
          <a:lstStyle/>
          <a:p>
            <a:pPr marL="0" indent="0" algn="l">
              <a:lnSpc>
                <a:spcPts val="3750"/>
              </a:lnSpc>
              <a:buNone/>
            </a:pPr>
            <a:r>
              <a:rPr lang="en-US" sz="3000" b="1" dirty="0">
                <a:solidFill>
                  <a:srgbClr val="443728"/>
                </a:solidFill>
                <a:latin typeface="Stylus BT" panose="020E0402020206020304" pitchFamily="34" charset="0"/>
                <a:ea typeface="Crimson Pro Bold" pitchFamily="34" charset="-122"/>
                <a:cs typeface="Crimson Pro Bold" pitchFamily="34" charset="-120"/>
              </a:rPr>
              <a:t>Revenue</a:t>
            </a:r>
            <a:r>
              <a:rPr lang="en-US" sz="3000" b="1" dirty="0">
                <a:solidFill>
                  <a:srgbClr val="443728"/>
                </a:solidFill>
                <a:latin typeface="Crimson Pro Bold" pitchFamily="34" charset="0"/>
                <a:ea typeface="Crimson Pro Bold" pitchFamily="34" charset="-122"/>
                <a:cs typeface="Crimson Pro Bold" pitchFamily="34" charset="-120"/>
              </a:rPr>
              <a:t> by Age Group</a:t>
            </a:r>
            <a:endParaRPr lang="en-US" sz="3000" dirty="0"/>
          </a:p>
        </p:txBody>
      </p:sp>
      <p:pic>
        <p:nvPicPr>
          <p:cNvPr id="3" name="Image 0" descr="preencoded.png"/>
          <p:cNvPicPr>
            <a:picLocks noChangeAspect="1"/>
          </p:cNvPicPr>
          <p:nvPr/>
        </p:nvPicPr>
        <p:blipFill>
          <a:blip r:embed="rId3"/>
          <a:stretch>
            <a:fillRect/>
          </a:stretch>
        </p:blipFill>
        <p:spPr>
          <a:xfrm>
            <a:off x="2366796" y="899993"/>
            <a:ext cx="9896808" cy="5542175"/>
          </a:xfrm>
          <a:prstGeom prst="rect">
            <a:avLst/>
          </a:prstGeom>
        </p:spPr>
      </p:pic>
      <p:sp>
        <p:nvSpPr>
          <p:cNvPr id="4" name="Text 1"/>
          <p:cNvSpPr/>
          <p:nvPr/>
        </p:nvSpPr>
        <p:spPr>
          <a:xfrm>
            <a:off x="536138" y="6920918"/>
            <a:ext cx="13558123" cy="490299"/>
          </a:xfrm>
          <a:prstGeom prst="rect">
            <a:avLst/>
          </a:prstGeom>
          <a:noFill/>
          <a:ln/>
        </p:spPr>
        <p:txBody>
          <a:bodyPr wrap="square" lIns="0" tIns="0" rIns="0" bIns="0" rtlCol="0" anchor="t"/>
          <a:lstStyle/>
          <a:p>
            <a:pPr marL="0" indent="0" algn="l">
              <a:lnSpc>
                <a:spcPts val="1900"/>
              </a:lnSpc>
              <a:buNone/>
            </a:pPr>
            <a:r>
              <a:rPr lang="en-US" sz="1200" dirty="0">
                <a:solidFill>
                  <a:srgbClr val="443728"/>
                </a:solidFill>
                <a:latin typeface="Open Sans" pitchFamily="34" charset="0"/>
                <a:ea typeface="Open Sans" pitchFamily="34" charset="-122"/>
                <a:cs typeface="Open Sans" pitchFamily="34" charset="-120"/>
              </a:rPr>
              <a:t>Young adults lead revenue generation at $62,143, followed closely by middle-aged customers. Revenue is relatively balanced across age groups, indicating broad market appeal with slight skew toward younger demographics.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646390"/>
            <a:ext cx="6757868" cy="708779"/>
          </a:xfrm>
          <a:prstGeom prst="rect">
            <a:avLst/>
          </a:prstGeom>
          <a:noFill/>
          <a:ln/>
        </p:spPr>
        <p:txBody>
          <a:bodyPr wrap="none" lIns="0" tIns="0" rIns="0" bIns="0" rtlCol="0" anchor="t"/>
          <a:lstStyle/>
          <a:p>
            <a:pPr marL="0" indent="0" algn="l">
              <a:lnSpc>
                <a:spcPts val="5550"/>
              </a:lnSpc>
              <a:buNone/>
            </a:pPr>
            <a:r>
              <a:rPr lang="en-US" sz="4450" b="1" dirty="0">
                <a:solidFill>
                  <a:srgbClr val="443728"/>
                </a:solidFill>
                <a:latin typeface="Stylus BT" panose="020E0402020206020304" pitchFamily="34" charset="0"/>
                <a:ea typeface="Crimson Pro Bold" pitchFamily="34" charset="-122"/>
                <a:cs typeface="Crimson Pro Bold" pitchFamily="34" charset="-120"/>
              </a:rPr>
              <a:t>Strategic</a:t>
            </a:r>
            <a:r>
              <a:rPr lang="en-US" sz="4450" b="1" dirty="0">
                <a:solidFill>
                  <a:srgbClr val="443728"/>
                </a:solidFill>
                <a:latin typeface="Crimson Pro Bold" pitchFamily="34" charset="0"/>
                <a:ea typeface="Crimson Pro Bold" pitchFamily="34" charset="-122"/>
                <a:cs typeface="Crimson Pro Bold" pitchFamily="34" charset="-120"/>
              </a:rPr>
              <a:t> </a:t>
            </a:r>
            <a:r>
              <a:rPr lang="en-US" sz="4450" b="1" dirty="0">
                <a:solidFill>
                  <a:srgbClr val="443728"/>
                </a:solidFill>
                <a:latin typeface="Stylus BT" panose="020E0402020206020304" pitchFamily="34" charset="0"/>
                <a:ea typeface="Crimson Pro Bold" pitchFamily="34" charset="-122"/>
                <a:cs typeface="Crimson Pro Bold" pitchFamily="34" charset="-120"/>
              </a:rPr>
              <a:t>Recommendations</a:t>
            </a:r>
            <a:endParaRPr lang="en-US" sz="4450" dirty="0">
              <a:latin typeface="Stylus BT" panose="020E0402020206020304" pitchFamily="34" charset="0"/>
            </a:endParaRPr>
          </a:p>
        </p:txBody>
      </p:sp>
      <p:sp>
        <p:nvSpPr>
          <p:cNvPr id="3" name="Shape 1"/>
          <p:cNvSpPr/>
          <p:nvPr/>
        </p:nvSpPr>
        <p:spPr>
          <a:xfrm>
            <a:off x="793790" y="1808798"/>
            <a:ext cx="4196358" cy="2955250"/>
          </a:xfrm>
          <a:prstGeom prst="roundRect">
            <a:avLst>
              <a:gd name="adj" fmla="val 3224"/>
            </a:avLst>
          </a:prstGeom>
          <a:solidFill>
            <a:srgbClr val="EBE2E0"/>
          </a:solidFill>
          <a:ln w="7620">
            <a:solidFill>
              <a:srgbClr val="D1C8C6"/>
            </a:solidFill>
            <a:prstDash val="solid"/>
          </a:ln>
        </p:spPr>
      </p:sp>
      <p:sp>
        <p:nvSpPr>
          <p:cNvPr id="4" name="Shape 2"/>
          <p:cNvSpPr/>
          <p:nvPr/>
        </p:nvSpPr>
        <p:spPr>
          <a:xfrm>
            <a:off x="1028224" y="2043232"/>
            <a:ext cx="680442" cy="680442"/>
          </a:xfrm>
          <a:prstGeom prst="roundRect">
            <a:avLst>
              <a:gd name="adj" fmla="val 13436980"/>
            </a:avLst>
          </a:prstGeom>
          <a:solidFill>
            <a:srgbClr val="835E54"/>
          </a:solidFill>
          <a:ln/>
        </p:spPr>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15390" y="2230279"/>
            <a:ext cx="306110" cy="306110"/>
          </a:xfrm>
          <a:prstGeom prst="rect">
            <a:avLst/>
          </a:prstGeom>
        </p:spPr>
      </p:pic>
      <p:sp>
        <p:nvSpPr>
          <p:cNvPr id="6" name="Text 3"/>
          <p:cNvSpPr/>
          <p:nvPr/>
        </p:nvSpPr>
        <p:spPr>
          <a:xfrm>
            <a:off x="1028224" y="2950488"/>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43728"/>
                </a:solidFill>
                <a:latin typeface="Stylus BT" panose="020E0402020206020304" pitchFamily="34" charset="0"/>
                <a:ea typeface="Crimson Pro Bold" pitchFamily="34" charset="-122"/>
                <a:cs typeface="Crimson Pro Bold" pitchFamily="34" charset="-120"/>
              </a:rPr>
              <a:t>Boost Subscriptions</a:t>
            </a:r>
            <a:endParaRPr lang="en-US" sz="2200" dirty="0">
              <a:latin typeface="Stylus BT" panose="020E0402020206020304" pitchFamily="34" charset="0"/>
            </a:endParaRPr>
          </a:p>
        </p:txBody>
      </p:sp>
      <p:sp>
        <p:nvSpPr>
          <p:cNvPr id="7" name="Text 4"/>
          <p:cNvSpPr/>
          <p:nvPr/>
        </p:nvSpPr>
        <p:spPr>
          <a:xfrm>
            <a:off x="1028224" y="3440906"/>
            <a:ext cx="3727490" cy="1088708"/>
          </a:xfrm>
          <a:prstGeom prst="rect">
            <a:avLst/>
          </a:prstGeom>
          <a:noFill/>
          <a:ln/>
        </p:spPr>
        <p:txBody>
          <a:bodyPr wrap="square" lIns="0" tIns="0" rIns="0" bIns="0" rtlCol="0" anchor="t"/>
          <a:lstStyle/>
          <a:p>
            <a:pPr marL="0" indent="0" algn="l">
              <a:lnSpc>
                <a:spcPts val="2850"/>
              </a:lnSpc>
              <a:buNone/>
            </a:pPr>
            <a:r>
              <a:rPr lang="en-US" sz="1750" dirty="0">
                <a:solidFill>
                  <a:srgbClr val="443728"/>
                </a:solidFill>
                <a:latin typeface="Open Sans" pitchFamily="34" charset="0"/>
                <a:ea typeface="Open Sans" pitchFamily="34" charset="-122"/>
                <a:cs typeface="Open Sans" pitchFamily="34" charset="-120"/>
              </a:rPr>
              <a:t>Promote exclusive benefits and rewards to convert high-frequency buyers into subscribers</a:t>
            </a:r>
            <a:endParaRPr lang="en-US" sz="1750" dirty="0"/>
          </a:p>
        </p:txBody>
      </p:sp>
      <p:sp>
        <p:nvSpPr>
          <p:cNvPr id="8" name="Shape 5"/>
          <p:cNvSpPr/>
          <p:nvPr/>
        </p:nvSpPr>
        <p:spPr>
          <a:xfrm>
            <a:off x="5216962" y="1808798"/>
            <a:ext cx="4196358" cy="2955250"/>
          </a:xfrm>
          <a:prstGeom prst="roundRect">
            <a:avLst>
              <a:gd name="adj" fmla="val 3224"/>
            </a:avLst>
          </a:prstGeom>
          <a:solidFill>
            <a:srgbClr val="EBE2E0"/>
          </a:solidFill>
          <a:ln w="7620">
            <a:solidFill>
              <a:srgbClr val="D1C8C6"/>
            </a:solidFill>
            <a:prstDash val="solid"/>
          </a:ln>
        </p:spPr>
      </p:sp>
      <p:sp>
        <p:nvSpPr>
          <p:cNvPr id="9" name="Shape 6"/>
          <p:cNvSpPr/>
          <p:nvPr/>
        </p:nvSpPr>
        <p:spPr>
          <a:xfrm>
            <a:off x="5451396" y="2043232"/>
            <a:ext cx="680442" cy="680442"/>
          </a:xfrm>
          <a:prstGeom prst="roundRect">
            <a:avLst>
              <a:gd name="adj" fmla="val 13436980"/>
            </a:avLst>
          </a:prstGeom>
          <a:solidFill>
            <a:srgbClr val="835E54"/>
          </a:solidFill>
          <a:ln/>
        </p:spPr>
      </p:sp>
      <p:pic>
        <p:nvPicPr>
          <p:cNvPr id="10" name="Image 1" descr="preencoded.png"/>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5638562" y="2230279"/>
            <a:ext cx="306110" cy="306110"/>
          </a:xfrm>
          <a:prstGeom prst="rect">
            <a:avLst/>
          </a:prstGeom>
        </p:spPr>
      </p:pic>
      <p:sp>
        <p:nvSpPr>
          <p:cNvPr id="11" name="Text 7"/>
          <p:cNvSpPr/>
          <p:nvPr/>
        </p:nvSpPr>
        <p:spPr>
          <a:xfrm>
            <a:off x="5451396" y="2950488"/>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43728"/>
                </a:solidFill>
                <a:latin typeface="Stylus BT" panose="020E0402020206020304" pitchFamily="34" charset="0"/>
                <a:ea typeface="Crimson Pro Bold" pitchFamily="34" charset="-122"/>
                <a:cs typeface="Crimson Pro Bold" pitchFamily="34" charset="-120"/>
              </a:rPr>
              <a:t>Loyalty Programs</a:t>
            </a:r>
            <a:endParaRPr lang="en-US" sz="2200" dirty="0">
              <a:latin typeface="Stylus BT" panose="020E0402020206020304" pitchFamily="34" charset="0"/>
            </a:endParaRPr>
          </a:p>
        </p:txBody>
      </p:sp>
      <p:sp>
        <p:nvSpPr>
          <p:cNvPr id="12" name="Text 8"/>
          <p:cNvSpPr/>
          <p:nvPr/>
        </p:nvSpPr>
        <p:spPr>
          <a:xfrm>
            <a:off x="5451396" y="3440906"/>
            <a:ext cx="3727490" cy="1088708"/>
          </a:xfrm>
          <a:prstGeom prst="rect">
            <a:avLst/>
          </a:prstGeom>
          <a:noFill/>
          <a:ln/>
        </p:spPr>
        <p:txBody>
          <a:bodyPr wrap="square" lIns="0" tIns="0" rIns="0" bIns="0" rtlCol="0" anchor="t"/>
          <a:lstStyle/>
          <a:p>
            <a:pPr marL="0" indent="0" algn="l">
              <a:lnSpc>
                <a:spcPts val="2850"/>
              </a:lnSpc>
              <a:buNone/>
            </a:pPr>
            <a:r>
              <a:rPr lang="en-US" sz="1750" dirty="0">
                <a:solidFill>
                  <a:srgbClr val="443728"/>
                </a:solidFill>
                <a:latin typeface="Open Sans" pitchFamily="34" charset="0"/>
                <a:ea typeface="Open Sans" pitchFamily="34" charset="-122"/>
                <a:cs typeface="Open Sans" pitchFamily="34" charset="-120"/>
              </a:rPr>
              <a:t>Reward repeat buyers to accelerate movement into the loyal customer segment</a:t>
            </a:r>
            <a:endParaRPr lang="en-US" sz="1750" dirty="0"/>
          </a:p>
        </p:txBody>
      </p:sp>
      <p:sp>
        <p:nvSpPr>
          <p:cNvPr id="13" name="Shape 9"/>
          <p:cNvSpPr/>
          <p:nvPr/>
        </p:nvSpPr>
        <p:spPr>
          <a:xfrm>
            <a:off x="9640133" y="1808798"/>
            <a:ext cx="4196358" cy="2955250"/>
          </a:xfrm>
          <a:prstGeom prst="roundRect">
            <a:avLst>
              <a:gd name="adj" fmla="val 3224"/>
            </a:avLst>
          </a:prstGeom>
          <a:solidFill>
            <a:srgbClr val="EBE2E0"/>
          </a:solidFill>
          <a:ln w="7620">
            <a:solidFill>
              <a:srgbClr val="D1C8C6"/>
            </a:solidFill>
            <a:prstDash val="solid"/>
          </a:ln>
        </p:spPr>
      </p:sp>
      <p:sp>
        <p:nvSpPr>
          <p:cNvPr id="14" name="Shape 10"/>
          <p:cNvSpPr/>
          <p:nvPr/>
        </p:nvSpPr>
        <p:spPr>
          <a:xfrm>
            <a:off x="9874568" y="2043232"/>
            <a:ext cx="680442" cy="680442"/>
          </a:xfrm>
          <a:prstGeom prst="roundRect">
            <a:avLst>
              <a:gd name="adj" fmla="val 13436980"/>
            </a:avLst>
          </a:prstGeom>
          <a:solidFill>
            <a:srgbClr val="835E54"/>
          </a:solidFill>
          <a:ln/>
        </p:spPr>
      </p:sp>
      <p:pic>
        <p:nvPicPr>
          <p:cNvPr id="15" name="Image 2" descr="preencoded.png"/>
          <p:cNvPicPr>
            <a:picLocks noChangeAspect="1"/>
          </p:cNvPicPr>
          <p:nvPr/>
        </p:nvPicPr>
        <p:blipFill>
          <a:blip r:embed="rId3">
            <a:extLst>
              <a:ext uri="{96DAC541-7B7A-43D3-8B79-37D633B846F1}">
                <asvg:svgBlip xmlns:asvg="http://schemas.microsoft.com/office/drawing/2016/SVG/main" r:embed="rId6"/>
              </a:ext>
            </a:extLst>
          </a:blip>
          <a:stretch>
            <a:fillRect/>
          </a:stretch>
        </p:blipFill>
        <p:spPr>
          <a:xfrm>
            <a:off x="10061734" y="2230279"/>
            <a:ext cx="306110" cy="306110"/>
          </a:xfrm>
          <a:prstGeom prst="rect">
            <a:avLst/>
          </a:prstGeom>
        </p:spPr>
      </p:pic>
      <p:sp>
        <p:nvSpPr>
          <p:cNvPr id="16" name="Text 11"/>
          <p:cNvSpPr/>
          <p:nvPr/>
        </p:nvSpPr>
        <p:spPr>
          <a:xfrm>
            <a:off x="9874568" y="2950488"/>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43728"/>
                </a:solidFill>
                <a:latin typeface="Stylus BT" panose="020E0402020206020304" pitchFamily="34" charset="0"/>
                <a:ea typeface="Crimson Pro Bold" pitchFamily="34" charset="-122"/>
                <a:cs typeface="Crimson Pro Bold" pitchFamily="34" charset="-120"/>
              </a:rPr>
              <a:t>Review Discount Policy</a:t>
            </a:r>
            <a:endParaRPr lang="en-US" sz="2200" dirty="0">
              <a:latin typeface="Stylus BT" panose="020E0402020206020304" pitchFamily="34" charset="0"/>
            </a:endParaRPr>
          </a:p>
        </p:txBody>
      </p:sp>
      <p:sp>
        <p:nvSpPr>
          <p:cNvPr id="17" name="Text 12"/>
          <p:cNvSpPr/>
          <p:nvPr/>
        </p:nvSpPr>
        <p:spPr>
          <a:xfrm>
            <a:off x="9874568" y="3440906"/>
            <a:ext cx="3727490" cy="1088708"/>
          </a:xfrm>
          <a:prstGeom prst="rect">
            <a:avLst/>
          </a:prstGeom>
          <a:noFill/>
          <a:ln/>
        </p:spPr>
        <p:txBody>
          <a:bodyPr wrap="square" lIns="0" tIns="0" rIns="0" bIns="0" rtlCol="0" anchor="t"/>
          <a:lstStyle/>
          <a:p>
            <a:pPr marL="0" indent="0" algn="l">
              <a:lnSpc>
                <a:spcPts val="2850"/>
              </a:lnSpc>
              <a:buNone/>
            </a:pPr>
            <a:r>
              <a:rPr lang="en-US" sz="1750" dirty="0">
                <a:solidFill>
                  <a:srgbClr val="443728"/>
                </a:solidFill>
                <a:latin typeface="Open Sans" pitchFamily="34" charset="0"/>
                <a:ea typeface="Open Sans" pitchFamily="34" charset="-122"/>
                <a:cs typeface="Open Sans" pitchFamily="34" charset="-120"/>
              </a:rPr>
              <a:t>Balance promotional sales boosts with margin control—target discounts strategically</a:t>
            </a:r>
            <a:endParaRPr lang="en-US" sz="1750" dirty="0"/>
          </a:p>
        </p:txBody>
      </p:sp>
      <p:sp>
        <p:nvSpPr>
          <p:cNvPr id="18" name="Shape 13"/>
          <p:cNvSpPr/>
          <p:nvPr/>
        </p:nvSpPr>
        <p:spPr>
          <a:xfrm>
            <a:off x="793790" y="4990862"/>
            <a:ext cx="6407944" cy="2592348"/>
          </a:xfrm>
          <a:prstGeom prst="roundRect">
            <a:avLst>
              <a:gd name="adj" fmla="val 3675"/>
            </a:avLst>
          </a:prstGeom>
          <a:solidFill>
            <a:srgbClr val="EBE2E0"/>
          </a:solidFill>
          <a:ln w="7620">
            <a:solidFill>
              <a:srgbClr val="D1C8C6"/>
            </a:solidFill>
            <a:prstDash val="solid"/>
          </a:ln>
        </p:spPr>
      </p:sp>
      <p:sp>
        <p:nvSpPr>
          <p:cNvPr id="19" name="Shape 14"/>
          <p:cNvSpPr/>
          <p:nvPr/>
        </p:nvSpPr>
        <p:spPr>
          <a:xfrm>
            <a:off x="1028224" y="5225296"/>
            <a:ext cx="680442" cy="680442"/>
          </a:xfrm>
          <a:prstGeom prst="roundRect">
            <a:avLst>
              <a:gd name="adj" fmla="val 13436980"/>
            </a:avLst>
          </a:prstGeom>
          <a:solidFill>
            <a:srgbClr val="835E54"/>
          </a:solidFill>
          <a:ln/>
        </p:spPr>
      </p:sp>
      <p:pic>
        <p:nvPicPr>
          <p:cNvPr id="20" name="Image 3" descr="preencoded.png"/>
          <p:cNvPicPr>
            <a:picLocks noChangeAspect="1"/>
          </p:cNvPicPr>
          <p:nvPr/>
        </p:nvPicPr>
        <p:blipFill>
          <a:blip r:embed="rId3">
            <a:extLst>
              <a:ext uri="{96DAC541-7B7A-43D3-8B79-37D633B846F1}">
                <asvg:svgBlip xmlns:asvg="http://schemas.microsoft.com/office/drawing/2016/SVG/main" r:embed="rId7"/>
              </a:ext>
            </a:extLst>
          </a:blip>
          <a:stretch>
            <a:fillRect/>
          </a:stretch>
        </p:blipFill>
        <p:spPr>
          <a:xfrm>
            <a:off x="1215390" y="5412343"/>
            <a:ext cx="306110" cy="306110"/>
          </a:xfrm>
          <a:prstGeom prst="rect">
            <a:avLst/>
          </a:prstGeom>
        </p:spPr>
      </p:pic>
      <p:sp>
        <p:nvSpPr>
          <p:cNvPr id="21" name="Text 15"/>
          <p:cNvSpPr/>
          <p:nvPr/>
        </p:nvSpPr>
        <p:spPr>
          <a:xfrm>
            <a:off x="1028224" y="613255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43728"/>
                </a:solidFill>
                <a:latin typeface="Stylus BT" panose="020E0402020206020304" pitchFamily="34" charset="0"/>
                <a:ea typeface="Crimson Pro Bold" pitchFamily="34" charset="-122"/>
                <a:cs typeface="Crimson Pro Bold" pitchFamily="34" charset="-120"/>
              </a:rPr>
              <a:t>Product Positioning</a:t>
            </a:r>
            <a:endParaRPr lang="en-US" sz="2200" dirty="0">
              <a:latin typeface="Stylus BT" panose="020E0402020206020304" pitchFamily="34" charset="0"/>
            </a:endParaRPr>
          </a:p>
        </p:txBody>
      </p:sp>
      <p:sp>
        <p:nvSpPr>
          <p:cNvPr id="22" name="Text 16"/>
          <p:cNvSpPr/>
          <p:nvPr/>
        </p:nvSpPr>
        <p:spPr>
          <a:xfrm>
            <a:off x="1028224" y="6622971"/>
            <a:ext cx="5939076" cy="725805"/>
          </a:xfrm>
          <a:prstGeom prst="rect">
            <a:avLst/>
          </a:prstGeom>
          <a:noFill/>
          <a:ln/>
        </p:spPr>
        <p:txBody>
          <a:bodyPr wrap="square" lIns="0" tIns="0" rIns="0" bIns="0" rtlCol="0" anchor="t"/>
          <a:lstStyle/>
          <a:p>
            <a:pPr marL="0" indent="0" algn="l">
              <a:lnSpc>
                <a:spcPts val="2850"/>
              </a:lnSpc>
              <a:buNone/>
            </a:pPr>
            <a:r>
              <a:rPr lang="en-US" sz="1750" dirty="0">
                <a:solidFill>
                  <a:srgbClr val="443728"/>
                </a:solidFill>
                <a:latin typeface="Open Sans" pitchFamily="34" charset="0"/>
                <a:ea typeface="Open Sans" pitchFamily="34" charset="-122"/>
                <a:cs typeface="Open Sans" pitchFamily="34" charset="-120"/>
              </a:rPr>
              <a:t>Highlight top-rated products (Gloves, Sandals, Boots) in marketing campaigns</a:t>
            </a:r>
            <a:endParaRPr lang="en-US" sz="1750" dirty="0"/>
          </a:p>
        </p:txBody>
      </p:sp>
      <p:sp>
        <p:nvSpPr>
          <p:cNvPr id="23" name="Shape 17"/>
          <p:cNvSpPr/>
          <p:nvPr/>
        </p:nvSpPr>
        <p:spPr>
          <a:xfrm>
            <a:off x="7428548" y="4990862"/>
            <a:ext cx="6407944" cy="2592348"/>
          </a:xfrm>
          <a:prstGeom prst="roundRect">
            <a:avLst>
              <a:gd name="adj" fmla="val 3675"/>
            </a:avLst>
          </a:prstGeom>
          <a:solidFill>
            <a:srgbClr val="EBE2E0"/>
          </a:solidFill>
          <a:ln w="7620">
            <a:solidFill>
              <a:srgbClr val="D1C8C6"/>
            </a:solidFill>
            <a:prstDash val="solid"/>
          </a:ln>
        </p:spPr>
      </p:sp>
      <p:sp>
        <p:nvSpPr>
          <p:cNvPr id="24" name="Shape 18"/>
          <p:cNvSpPr/>
          <p:nvPr/>
        </p:nvSpPr>
        <p:spPr>
          <a:xfrm>
            <a:off x="7662982" y="5225296"/>
            <a:ext cx="680442" cy="680442"/>
          </a:xfrm>
          <a:prstGeom prst="roundRect">
            <a:avLst>
              <a:gd name="adj" fmla="val 13436980"/>
            </a:avLst>
          </a:prstGeom>
          <a:solidFill>
            <a:srgbClr val="835E54"/>
          </a:solidFill>
          <a:ln/>
        </p:spPr>
      </p:sp>
      <p:pic>
        <p:nvPicPr>
          <p:cNvPr id="25" name="Image 4" descr="preencoded.png"/>
          <p:cNvPicPr>
            <a:picLocks noChangeAspect="1"/>
          </p:cNvPicPr>
          <p:nvPr/>
        </p:nvPicPr>
        <p:blipFill>
          <a:blip r:embed="rId3">
            <a:extLst>
              <a:ext uri="{96DAC541-7B7A-43D3-8B79-37D633B846F1}">
                <asvg:svgBlip xmlns:asvg="http://schemas.microsoft.com/office/drawing/2016/SVG/main" r:embed="rId8"/>
              </a:ext>
            </a:extLst>
          </a:blip>
          <a:stretch>
            <a:fillRect/>
          </a:stretch>
        </p:blipFill>
        <p:spPr>
          <a:xfrm>
            <a:off x="7850148" y="5412343"/>
            <a:ext cx="306110" cy="306110"/>
          </a:xfrm>
          <a:prstGeom prst="rect">
            <a:avLst/>
          </a:prstGeom>
        </p:spPr>
      </p:pic>
      <p:sp>
        <p:nvSpPr>
          <p:cNvPr id="26" name="Text 19"/>
          <p:cNvSpPr/>
          <p:nvPr/>
        </p:nvSpPr>
        <p:spPr>
          <a:xfrm>
            <a:off x="7662982" y="613255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43728"/>
                </a:solidFill>
                <a:latin typeface="Stylus BT" panose="020E0402020206020304" pitchFamily="34" charset="0"/>
                <a:ea typeface="Crimson Pro Bold" pitchFamily="34" charset="-122"/>
                <a:cs typeface="Crimson Pro Bold" pitchFamily="34" charset="-120"/>
              </a:rPr>
              <a:t>Targeted Marketing</a:t>
            </a:r>
            <a:endParaRPr lang="en-US" sz="2200" dirty="0">
              <a:latin typeface="Stylus BT" panose="020E0402020206020304" pitchFamily="34" charset="0"/>
            </a:endParaRPr>
          </a:p>
        </p:txBody>
      </p:sp>
      <p:sp>
        <p:nvSpPr>
          <p:cNvPr id="27" name="Text 20"/>
          <p:cNvSpPr/>
          <p:nvPr/>
        </p:nvSpPr>
        <p:spPr>
          <a:xfrm>
            <a:off x="7662982" y="6622971"/>
            <a:ext cx="5939076" cy="725805"/>
          </a:xfrm>
          <a:prstGeom prst="rect">
            <a:avLst/>
          </a:prstGeom>
          <a:noFill/>
          <a:ln/>
        </p:spPr>
        <p:txBody>
          <a:bodyPr wrap="square" lIns="0" tIns="0" rIns="0" bIns="0" rtlCol="0" anchor="t"/>
          <a:lstStyle/>
          <a:p>
            <a:pPr marL="0" indent="0" algn="l">
              <a:lnSpc>
                <a:spcPts val="2850"/>
              </a:lnSpc>
              <a:buNone/>
            </a:pPr>
            <a:r>
              <a:rPr lang="en-US" sz="1750" dirty="0">
                <a:solidFill>
                  <a:srgbClr val="443728"/>
                </a:solidFill>
                <a:latin typeface="Open Sans" pitchFamily="34" charset="0"/>
                <a:ea typeface="Open Sans" pitchFamily="34" charset="-122"/>
                <a:cs typeface="Open Sans" pitchFamily="34" charset="-120"/>
              </a:rPr>
              <a:t>Focus efforts on young adults and express-shipping users who show higher engagement</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624</Words>
  <Application>Microsoft Office PowerPoint</Application>
  <PresentationFormat>Custom</PresentationFormat>
  <Paragraphs>102</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Crimson Pro Light</vt:lpstr>
      <vt:lpstr>Calibri</vt:lpstr>
      <vt:lpstr>Arial</vt:lpstr>
      <vt:lpstr>Stylus BT</vt:lpstr>
      <vt:lpstr>Crimson Pro Bold</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Rashmi</cp:lastModifiedBy>
  <cp:revision>6</cp:revision>
  <dcterms:created xsi:type="dcterms:W3CDTF">2025-12-03T10:28:24Z</dcterms:created>
  <dcterms:modified xsi:type="dcterms:W3CDTF">2026-04-05T16:30:24Z</dcterms:modified>
</cp:coreProperties>
</file>